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8C51C-0D6D-4C92-A6F4-A791AAA784A2}" v="6" dt="2026-05-26T18:39:16.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72" autoAdjust="0"/>
  </p:normalViewPr>
  <p:slideViewPr>
    <p:cSldViewPr snapToGrid="0" snapToObjects="1">
      <p:cViewPr varScale="1">
        <p:scale>
          <a:sx n="103" d="100"/>
          <a:sy n="103" d="100"/>
        </p:scale>
        <p:origin x="312" y="64"/>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sibe Şeyma Can" userId="27782137dc423866" providerId="LiveId" clId="{1B49244D-AA4F-44AB-9AC2-08ADD29ACCCA}"/>
    <pc:docChg chg="undo custSel addSld modSld">
      <pc:chgData name="Nesibe Şeyma Can" userId="27782137dc423866" providerId="LiveId" clId="{1B49244D-AA4F-44AB-9AC2-08ADD29ACCCA}" dt="2026-05-26T18:41:18.136" v="135" actId="1076"/>
      <pc:docMkLst>
        <pc:docMk/>
      </pc:docMkLst>
      <pc:sldChg chg="delSp modSp mod">
        <pc:chgData name="Nesibe Şeyma Can" userId="27782137dc423866" providerId="LiveId" clId="{1B49244D-AA4F-44AB-9AC2-08ADD29ACCCA}" dt="2026-05-26T18:38:52.295" v="85"/>
        <pc:sldMkLst>
          <pc:docMk/>
          <pc:sldMk cId="0" sldId="256"/>
        </pc:sldMkLst>
        <pc:spChg chg="mod">
          <ac:chgData name="Nesibe Şeyma Can" userId="27782137dc423866" providerId="LiveId" clId="{1B49244D-AA4F-44AB-9AC2-08ADD29ACCCA}" dt="2026-05-26T18:38:41.860" v="84" actId="255"/>
          <ac:spMkLst>
            <pc:docMk/>
            <pc:sldMk cId="0" sldId="256"/>
            <ac:spMk id="3" creationId="{00000000-0000-0000-0000-000000000000}"/>
          </ac:spMkLst>
        </pc:spChg>
        <pc:spChg chg="mod">
          <ac:chgData name="Nesibe Şeyma Can" userId="27782137dc423866" providerId="LiveId" clId="{1B49244D-AA4F-44AB-9AC2-08ADD29ACCCA}" dt="2026-05-26T18:38:52.295" v="85"/>
          <ac:spMkLst>
            <pc:docMk/>
            <pc:sldMk cId="0" sldId="256"/>
            <ac:spMk id="5" creationId="{00000000-0000-0000-0000-000000000000}"/>
          </ac:spMkLst>
        </pc:spChg>
        <pc:spChg chg="del mod">
          <ac:chgData name="Nesibe Şeyma Can" userId="27782137dc423866" providerId="LiveId" clId="{1B49244D-AA4F-44AB-9AC2-08ADD29ACCCA}" dt="2026-05-26T18:37:40.021" v="45" actId="21"/>
          <ac:spMkLst>
            <pc:docMk/>
            <pc:sldMk cId="0" sldId="256"/>
            <ac:spMk id="9" creationId="{00000000-0000-0000-0000-000000000000}"/>
          </ac:spMkLst>
        </pc:spChg>
      </pc:sldChg>
      <pc:sldChg chg="addSp delSp modSp mod chgLayout">
        <pc:chgData name="Nesibe Şeyma Can" userId="27782137dc423866" providerId="LiveId" clId="{1B49244D-AA4F-44AB-9AC2-08ADD29ACCCA}" dt="2026-05-26T18:33:41.877" v="34" actId="6264"/>
        <pc:sldMkLst>
          <pc:docMk/>
          <pc:sldMk cId="0" sldId="261"/>
        </pc:sldMkLst>
        <pc:picChg chg="del mod">
          <ac:chgData name="Nesibe Şeyma Can" userId="27782137dc423866" providerId="LiveId" clId="{1B49244D-AA4F-44AB-9AC2-08ADD29ACCCA}" dt="2026-05-26T18:31:45.473" v="16" actId="478"/>
          <ac:picMkLst>
            <pc:docMk/>
            <pc:sldMk cId="0" sldId="261"/>
            <ac:picMk id="5" creationId="{00000000-0000-0000-0000-000000000000}"/>
          </ac:picMkLst>
        </pc:picChg>
        <pc:picChg chg="add del mod">
          <ac:chgData name="Nesibe Şeyma Can" userId="27782137dc423866" providerId="LiveId" clId="{1B49244D-AA4F-44AB-9AC2-08ADD29ACCCA}" dt="2026-05-26T18:30:37.861" v="10" actId="21"/>
          <ac:picMkLst>
            <pc:docMk/>
            <pc:sldMk cId="0" sldId="261"/>
            <ac:picMk id="6" creationId="{00000000-0000-0000-0000-000000000000}"/>
          </ac:picMkLst>
        </pc:picChg>
        <pc:picChg chg="add mod">
          <ac:chgData name="Nesibe Şeyma Can" userId="27782137dc423866" providerId="LiveId" clId="{1B49244D-AA4F-44AB-9AC2-08ADD29ACCCA}" dt="2026-05-26T18:30:47.581" v="11" actId="1076"/>
          <ac:picMkLst>
            <pc:docMk/>
            <pc:sldMk cId="0" sldId="261"/>
            <ac:picMk id="9" creationId="{EB5297E9-208D-A723-E8A8-0FDE7D14448A}"/>
          </ac:picMkLst>
        </pc:picChg>
        <pc:picChg chg="add mod modCrop">
          <ac:chgData name="Nesibe Şeyma Can" userId="27782137dc423866" providerId="LiveId" clId="{1B49244D-AA4F-44AB-9AC2-08ADD29ACCCA}" dt="2026-05-26T18:32:58.326" v="32" actId="1076"/>
          <ac:picMkLst>
            <pc:docMk/>
            <pc:sldMk cId="0" sldId="261"/>
            <ac:picMk id="11" creationId="{46803A2C-2A8D-0222-4253-81FE1EB13CA5}"/>
          </ac:picMkLst>
        </pc:picChg>
        <pc:picChg chg="add mod modCrop">
          <ac:chgData name="Nesibe Şeyma Can" userId="27782137dc423866" providerId="LiveId" clId="{1B49244D-AA4F-44AB-9AC2-08ADD29ACCCA}" dt="2026-05-26T18:33:09.174" v="33" actId="1076"/>
          <ac:picMkLst>
            <pc:docMk/>
            <pc:sldMk cId="0" sldId="261"/>
            <ac:picMk id="13" creationId="{B505C1A3-2F9B-D481-74EE-19AFC09CE091}"/>
          </ac:picMkLst>
        </pc:picChg>
      </pc:sldChg>
      <pc:sldChg chg="addSp delSp modSp mod">
        <pc:chgData name="Nesibe Şeyma Can" userId="27782137dc423866" providerId="LiveId" clId="{1B49244D-AA4F-44AB-9AC2-08ADD29ACCCA}" dt="2026-05-26T18:34:43.124" v="38" actId="21"/>
        <pc:sldMkLst>
          <pc:docMk/>
          <pc:sldMk cId="0" sldId="262"/>
        </pc:sldMkLst>
        <pc:spChg chg="del">
          <ac:chgData name="Nesibe Şeyma Can" userId="27782137dc423866" providerId="LiveId" clId="{1B49244D-AA4F-44AB-9AC2-08ADD29ACCCA}" dt="2026-05-26T18:34:43.124" v="38" actId="21"/>
          <ac:spMkLst>
            <pc:docMk/>
            <pc:sldMk cId="0" sldId="262"/>
            <ac:spMk id="2" creationId="{00000000-0000-0000-0000-000000000000}"/>
          </ac:spMkLst>
        </pc:spChg>
        <pc:spChg chg="del mod">
          <ac:chgData name="Nesibe Şeyma Can" userId="27782137dc423866" providerId="LiveId" clId="{1B49244D-AA4F-44AB-9AC2-08ADD29ACCCA}" dt="2026-05-26T18:34:40.871" v="37" actId="21"/>
          <ac:spMkLst>
            <pc:docMk/>
            <pc:sldMk cId="0" sldId="262"/>
            <ac:spMk id="3" creationId="{00000000-0000-0000-0000-000000000000}"/>
          </ac:spMkLst>
        </pc:spChg>
        <pc:spChg chg="mod">
          <ac:chgData name="Nesibe Şeyma Can" userId="27782137dc423866" providerId="LiveId" clId="{1B49244D-AA4F-44AB-9AC2-08ADD29ACCCA}" dt="2026-05-26T18:34:22.119" v="35" actId="1076"/>
          <ac:spMkLst>
            <pc:docMk/>
            <pc:sldMk cId="0" sldId="262"/>
            <ac:spMk id="8" creationId="{00000000-0000-0000-0000-000000000000}"/>
          </ac:spMkLst>
        </pc:spChg>
        <pc:spChg chg="mod">
          <ac:chgData name="Nesibe Şeyma Can" userId="27782137dc423866" providerId="LiveId" clId="{1B49244D-AA4F-44AB-9AC2-08ADD29ACCCA}" dt="2026-05-26T18:34:22.119" v="35" actId="1076"/>
          <ac:spMkLst>
            <pc:docMk/>
            <pc:sldMk cId="0" sldId="262"/>
            <ac:spMk id="12" creationId="{00000000-0000-0000-0000-000000000000}"/>
          </ac:spMkLst>
        </pc:spChg>
        <pc:spChg chg="mod">
          <ac:chgData name="Nesibe Şeyma Can" userId="27782137dc423866" providerId="LiveId" clId="{1B49244D-AA4F-44AB-9AC2-08ADD29ACCCA}" dt="2026-05-26T18:34:22.119" v="35" actId="1076"/>
          <ac:spMkLst>
            <pc:docMk/>
            <pc:sldMk cId="0" sldId="262"/>
            <ac:spMk id="14" creationId="{00000000-0000-0000-0000-000000000000}"/>
          </ac:spMkLst>
        </pc:spChg>
        <pc:spChg chg="mod">
          <ac:chgData name="Nesibe Şeyma Can" userId="27782137dc423866" providerId="LiveId" clId="{1B49244D-AA4F-44AB-9AC2-08ADD29ACCCA}" dt="2026-05-26T18:34:22.119" v="35" actId="1076"/>
          <ac:spMkLst>
            <pc:docMk/>
            <pc:sldMk cId="0" sldId="262"/>
            <ac:spMk id="15" creationId="{00000000-0000-0000-0000-000000000000}"/>
          </ac:spMkLst>
        </pc:spChg>
        <pc:spChg chg="mod">
          <ac:chgData name="Nesibe Şeyma Can" userId="27782137dc423866" providerId="LiveId" clId="{1B49244D-AA4F-44AB-9AC2-08ADD29ACCCA}" dt="2026-05-26T18:34:22.119" v="35" actId="1076"/>
          <ac:spMkLst>
            <pc:docMk/>
            <pc:sldMk cId="0" sldId="262"/>
            <ac:spMk id="18" creationId="{00000000-0000-0000-0000-000000000000}"/>
          </ac:spMkLst>
        </pc:spChg>
        <pc:spChg chg="mod">
          <ac:chgData name="Nesibe Şeyma Can" userId="27782137dc423866" providerId="LiveId" clId="{1B49244D-AA4F-44AB-9AC2-08ADD29ACCCA}" dt="2026-05-26T18:34:22.119" v="35" actId="1076"/>
          <ac:spMkLst>
            <pc:docMk/>
            <pc:sldMk cId="0" sldId="262"/>
            <ac:spMk id="21" creationId="{00000000-0000-0000-0000-000000000000}"/>
          </ac:spMkLst>
        </pc:spChg>
        <pc:spChg chg="mod">
          <ac:chgData name="Nesibe Şeyma Can" userId="27782137dc423866" providerId="LiveId" clId="{1B49244D-AA4F-44AB-9AC2-08ADD29ACCCA}" dt="2026-05-26T18:34:22.119" v="35" actId="1076"/>
          <ac:spMkLst>
            <pc:docMk/>
            <pc:sldMk cId="0" sldId="262"/>
            <ac:spMk id="25" creationId="{00000000-0000-0000-0000-000000000000}"/>
          </ac:spMkLst>
        </pc:spChg>
        <pc:spChg chg="mod">
          <ac:chgData name="Nesibe Şeyma Can" userId="27782137dc423866" providerId="LiveId" clId="{1B49244D-AA4F-44AB-9AC2-08ADD29ACCCA}" dt="2026-05-26T18:34:22.119" v="35" actId="1076"/>
          <ac:spMkLst>
            <pc:docMk/>
            <pc:sldMk cId="0" sldId="262"/>
            <ac:spMk id="26" creationId="{00000000-0000-0000-0000-000000000000}"/>
          </ac:spMkLst>
        </pc:spChg>
        <pc:spChg chg="mod">
          <ac:chgData name="Nesibe Şeyma Can" userId="27782137dc423866" providerId="LiveId" clId="{1B49244D-AA4F-44AB-9AC2-08ADD29ACCCA}" dt="2026-05-26T18:34:22.119" v="35" actId="1076"/>
          <ac:spMkLst>
            <pc:docMk/>
            <pc:sldMk cId="0" sldId="262"/>
            <ac:spMk id="28" creationId="{00000000-0000-0000-0000-000000000000}"/>
          </ac:spMkLst>
        </pc:spChg>
        <pc:spChg chg="add mod">
          <ac:chgData name="Nesibe Şeyma Can" userId="27782137dc423866" providerId="LiveId" clId="{1B49244D-AA4F-44AB-9AC2-08ADD29ACCCA}" dt="2026-05-26T18:34:37.573" v="36" actId="571"/>
          <ac:spMkLst>
            <pc:docMk/>
            <pc:sldMk cId="0" sldId="262"/>
            <ac:spMk id="29" creationId="{3E63E23E-796E-A83F-BE98-90D8F8520684}"/>
          </ac:spMkLst>
        </pc:spChg>
        <pc:spChg chg="add mod">
          <ac:chgData name="Nesibe Şeyma Can" userId="27782137dc423866" providerId="LiveId" clId="{1B49244D-AA4F-44AB-9AC2-08ADD29ACCCA}" dt="2026-05-26T18:34:37.573" v="36" actId="571"/>
          <ac:spMkLst>
            <pc:docMk/>
            <pc:sldMk cId="0" sldId="262"/>
            <ac:spMk id="30" creationId="{FE616E97-FC74-CC51-EE3C-53E3DB62A451}"/>
          </ac:spMkLst>
        </pc:spChg>
      </pc:sldChg>
      <pc:sldChg chg="addSp delSp modSp new mod">
        <pc:chgData name="Nesibe Şeyma Can" userId="27782137dc423866" providerId="LiveId" clId="{1B49244D-AA4F-44AB-9AC2-08ADD29ACCCA}" dt="2026-05-26T18:41:18.136" v="135" actId="1076"/>
        <pc:sldMkLst>
          <pc:docMk/>
          <pc:sldMk cId="4041353641" sldId="270"/>
        </pc:sldMkLst>
        <pc:spChg chg="add del mod">
          <ac:chgData name="Nesibe Şeyma Can" userId="27782137dc423866" providerId="LiveId" clId="{1B49244D-AA4F-44AB-9AC2-08ADD29ACCCA}" dt="2026-05-26T18:36:50.849" v="42" actId="21"/>
          <ac:spMkLst>
            <pc:docMk/>
            <pc:sldMk cId="4041353641" sldId="270"/>
            <ac:spMk id="2" creationId="{ABEF4E29-CB8F-51B2-0BD6-1E3566972052}"/>
          </ac:spMkLst>
        </pc:spChg>
        <pc:spChg chg="add mod">
          <ac:chgData name="Nesibe Şeyma Can" userId="27782137dc423866" providerId="LiveId" clId="{1B49244D-AA4F-44AB-9AC2-08ADD29ACCCA}" dt="2026-05-26T18:41:18.136" v="135" actId="1076"/>
          <ac:spMkLst>
            <pc:docMk/>
            <pc:sldMk cId="4041353641" sldId="270"/>
            <ac:spMk id="5" creationId="{E11C3298-CECF-4392-2130-E82EFABC5219}"/>
          </ac:spMkLst>
        </pc:spChg>
        <pc:picChg chg="add mod">
          <ac:chgData name="Nesibe Şeyma Can" userId="27782137dc423866" providerId="LiveId" clId="{1B49244D-AA4F-44AB-9AC2-08ADD29ACCCA}" dt="2026-05-26T18:41:07.970" v="134" actId="34135"/>
          <ac:picMkLst>
            <pc:docMk/>
            <pc:sldMk cId="4041353641" sldId="270"/>
            <ac:picMk id="4" creationId="{D5558003-E0AD-26E6-1F89-0D65BE56AD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642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Merhaba, bugün büyük veri güvenliği konusunda hazırladığım projeyi sunacağım. Bu çalışmada ağ trafiği verilerinde makine öğrenimi kullanarak saldırı tespiti yapıyor ve bunun etik boyutlarını değerlendiriyorum.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projenin dört temel amacı var. Sadece teknik bir model kurmakla kalmıyoruz, aynı zamanda bu modelin yanlış kararlarının ne gibi sonuçlar doğurduğunu güvenlik ve etik açısından inceliyoruz. Ağ trafiği verileri saniyede milyonlarca kayıt ürettiği için manuel analiz mümkün değil — bu da büyük veri yöntemlerini zorunlu kılıyor.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UNSW-NB15, Avustralya Siber Güvenlik Merkezi tarafından gerçek dünya saldırıları simüle edilerek oluşturulmuş, akademik alanda yaygın kullanılan bir veri setidir. Toplam 2.5 milyonu aşkın kayıt içeriyor ve 9 farklı saldırı türünü barındırıyor. Bu veri setinin büyüklüğü ve çeşitliliği onu büyük veri çalışmalarına ideal yapıyor.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Büyük verinin 3V modelini bu veri setiyle örnekleyebiliriz. Hacim olarak milyonlarca kayıt, hız olarak gerçek zamanlı trafik akışı, çeşitlilik olarak ise 49 farklı özellik ve 9 saldırı türü. Bu ölçekte ve hızda insan analizi mümkün değil — bu yüzden modellemek zorunlu hale geliyor.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Eğitim setimizde kayıtların yaklaşık yüzde otuz yedisi normal, geri kalanı saldırı trafiğidir. Saldırı kategorileri arasında Fuzzers, Reconnaissance ve Generic en yaygın olanlardır. Bu sınıf dengesizliği, modelin class_weight parametresiyle dengelenmesini gerektirdi.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UDP ve TCP protokolleri baskın. Korelasyon analizinde ct_state_ttl, sttl ve rate özelliklerinin hedef değişkenle güçlü ilişki içinde olduğunu görüyoruz — bu özellikler modelimizde de öne çıkacak.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Metodolojimiz beş adımdan oluşuyor. Veriyi yükledikten sonra kategorik değişkenleri sayısala çevirdik, standartlaştırdık ve eksik değerleri medyanla doldurduk. Model olarak Random Forest seçtik çünkü hem yüksek performanslı hem de yorumlanabilir bir modeldir. Son adımda salt teknik değerlendirmenin ötesine geçerek etik ve mahremiyet boyutunu analiz ettik.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Modelimiz test setinde yüzde doksan doğruluk elde etti. ROC-AUC değeri 0.986, bu ayrıştırma gücünün çok yüksek olduğunu gösteriyor. Saldırı sınıfında precision yüzde 99 — yani alarm verdiğinde neredeyse kesinlikle doğru. Ancak recall yüzde 86, yani saldırıların yüzde 14'ünü kaçırıyoruz. Bu güvenlik riski açısından kritik bir bulgudur.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Confusion matrix bize </a:t>
            </a:r>
            <a:r>
              <a:rPr dirty="0" err="1"/>
              <a:t>iki</a:t>
            </a:r>
            <a:r>
              <a:rPr dirty="0"/>
              <a:t> </a:t>
            </a:r>
            <a:r>
              <a:rPr dirty="0" err="1"/>
              <a:t>önemli</a:t>
            </a:r>
            <a:r>
              <a:rPr dirty="0"/>
              <a:t> </a:t>
            </a:r>
            <a:r>
              <a:rPr dirty="0" err="1"/>
              <a:t>hata</a:t>
            </a:r>
            <a:r>
              <a:rPr dirty="0"/>
              <a:t> </a:t>
            </a:r>
            <a:r>
              <a:rPr dirty="0" err="1"/>
              <a:t>türünü</a:t>
            </a:r>
            <a:r>
              <a:rPr dirty="0"/>
              <a:t> </a:t>
            </a:r>
            <a:r>
              <a:rPr dirty="0" err="1"/>
              <a:t>gösteriyor</a:t>
            </a:r>
            <a:r>
              <a:rPr dirty="0"/>
              <a:t>. 16 bin 282 </a:t>
            </a:r>
            <a:r>
              <a:rPr dirty="0" err="1"/>
              <a:t>yanlış</a:t>
            </a:r>
            <a:r>
              <a:rPr dirty="0"/>
              <a:t> </a:t>
            </a:r>
            <a:r>
              <a:rPr dirty="0" err="1"/>
              <a:t>negatif</a:t>
            </a:r>
            <a:r>
              <a:rPr dirty="0"/>
              <a:t> — </a:t>
            </a:r>
            <a:r>
              <a:rPr dirty="0" err="1"/>
              <a:t>gerçek</a:t>
            </a:r>
            <a:r>
              <a:rPr dirty="0"/>
              <a:t> </a:t>
            </a:r>
            <a:r>
              <a:rPr dirty="0" err="1"/>
              <a:t>saldırı</a:t>
            </a:r>
            <a:r>
              <a:rPr dirty="0"/>
              <a:t> </a:t>
            </a:r>
            <a:r>
              <a:rPr dirty="0" err="1"/>
              <a:t>atlandı</a:t>
            </a:r>
            <a:r>
              <a:rPr dirty="0"/>
              <a:t>, </a:t>
            </a:r>
            <a:r>
              <a:rPr dirty="0" err="1"/>
              <a:t>bu</a:t>
            </a:r>
            <a:r>
              <a:rPr dirty="0"/>
              <a:t> </a:t>
            </a:r>
            <a:r>
              <a:rPr dirty="0" err="1"/>
              <a:t>bir</a:t>
            </a:r>
            <a:r>
              <a:rPr dirty="0"/>
              <a:t> </a:t>
            </a:r>
            <a:r>
              <a:rPr dirty="0" err="1"/>
              <a:t>güvenlik</a:t>
            </a:r>
            <a:r>
              <a:rPr dirty="0"/>
              <a:t> </a:t>
            </a:r>
            <a:r>
              <a:rPr dirty="0" err="1"/>
              <a:t>riskidir</a:t>
            </a:r>
            <a:r>
              <a:rPr dirty="0"/>
              <a:t>. 1023 </a:t>
            </a:r>
            <a:r>
              <a:rPr dirty="0" err="1"/>
              <a:t>yanlış</a:t>
            </a:r>
            <a:r>
              <a:rPr dirty="0"/>
              <a:t> </a:t>
            </a:r>
            <a:r>
              <a:rPr dirty="0" err="1"/>
              <a:t>pozitif</a:t>
            </a:r>
            <a:r>
              <a:rPr dirty="0"/>
              <a:t> — normal </a:t>
            </a:r>
            <a:r>
              <a:rPr dirty="0" err="1"/>
              <a:t>bir</a:t>
            </a:r>
            <a:r>
              <a:rPr dirty="0"/>
              <a:t> </a:t>
            </a:r>
            <a:r>
              <a:rPr dirty="0" err="1"/>
              <a:t>kullanıcı</a:t>
            </a:r>
            <a:r>
              <a:rPr dirty="0"/>
              <a:t> </a:t>
            </a:r>
            <a:r>
              <a:rPr dirty="0" err="1"/>
              <a:t>saldırgan</a:t>
            </a:r>
            <a:r>
              <a:rPr dirty="0"/>
              <a:t> </a:t>
            </a:r>
            <a:r>
              <a:rPr dirty="0" err="1"/>
              <a:t>olarak</a:t>
            </a:r>
            <a:r>
              <a:rPr dirty="0"/>
              <a:t> </a:t>
            </a:r>
            <a:r>
              <a:rPr dirty="0" err="1"/>
              <a:t>işaretlendi</a:t>
            </a:r>
            <a:r>
              <a:rPr dirty="0"/>
              <a:t>, </a:t>
            </a:r>
            <a:r>
              <a:rPr dirty="0" err="1"/>
              <a:t>bu</a:t>
            </a:r>
            <a:r>
              <a:rPr dirty="0"/>
              <a:t> </a:t>
            </a:r>
            <a:r>
              <a:rPr dirty="0" err="1"/>
              <a:t>etik</a:t>
            </a:r>
            <a:r>
              <a:rPr dirty="0"/>
              <a:t> </a:t>
            </a:r>
            <a:r>
              <a:rPr dirty="0" err="1"/>
              <a:t>ve</a:t>
            </a:r>
            <a:r>
              <a:rPr dirty="0"/>
              <a:t> </a:t>
            </a:r>
            <a:r>
              <a:rPr dirty="0" err="1"/>
              <a:t>operasyonel</a:t>
            </a:r>
            <a:r>
              <a:rPr dirty="0"/>
              <a:t> </a:t>
            </a:r>
            <a:r>
              <a:rPr dirty="0" err="1"/>
              <a:t>bir</a:t>
            </a:r>
            <a:r>
              <a:rPr dirty="0"/>
              <a:t> </a:t>
            </a:r>
            <a:r>
              <a:rPr dirty="0" err="1"/>
              <a:t>sorundur</a:t>
            </a:r>
            <a:r>
              <a:rPr dirty="0"/>
              <a:t>. Bu </a:t>
            </a:r>
            <a:r>
              <a:rPr dirty="0" err="1"/>
              <a:t>iki</a:t>
            </a:r>
            <a:r>
              <a:rPr dirty="0"/>
              <a:t> </a:t>
            </a:r>
            <a:r>
              <a:rPr dirty="0" err="1"/>
              <a:t>hata</a:t>
            </a:r>
            <a:r>
              <a:rPr dirty="0"/>
              <a:t> </a:t>
            </a:r>
            <a:r>
              <a:rPr dirty="0" err="1"/>
              <a:t>tipinin</a:t>
            </a:r>
            <a:r>
              <a:rPr dirty="0"/>
              <a:t> </a:t>
            </a:r>
            <a:r>
              <a:rPr dirty="0" err="1"/>
              <a:t>farklı</a:t>
            </a:r>
            <a:r>
              <a:rPr dirty="0"/>
              <a:t> risk </a:t>
            </a:r>
            <a:r>
              <a:rPr dirty="0" err="1"/>
              <a:t>kategorileri</a:t>
            </a:r>
            <a:r>
              <a:rPr dirty="0"/>
              <a:t> </a:t>
            </a:r>
            <a:r>
              <a:rPr dirty="0" err="1"/>
              <a:t>taşıdığını</a:t>
            </a:r>
            <a:r>
              <a:rPr dirty="0"/>
              <a:t> </a:t>
            </a:r>
            <a:r>
              <a:rPr dirty="0" err="1"/>
              <a:t>vurgulamak</a:t>
            </a:r>
            <a:r>
              <a:rPr dirty="0"/>
              <a:t> </a:t>
            </a:r>
            <a:r>
              <a:rPr dirty="0" err="1"/>
              <a:t>istiyorum</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ROC eğrisi neredeyse mükemmel — AUC 0.986 modelimizin rastgele tahminden çok üstün olduğunu kanıtlıyor. Özellik önemi grafiğinde ise ct_state_ttl, sttl ve dttl özelliklerinin en belirleyici olduğunu görüyoruz. Bu özellikler ağ bağlantısının durumu ve yaşam süresi ile ilgili — saldırı trafiği bu açıdan normal trafikten belirgin şekilde ayrışıyor.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grafik dört kategoriyi karşılaştırıyor. Turuncu sütun — yanlış pozitifler — etik riski temsil ediyor: masum bir kullanıcı haksız yere tehdit olarak işaretleniyor. Kırmızı sütun — yanlış negatifler — güvenlik riskini temsil ediyor: gerçek bir saldırı gözden kaçıyor. İdeal bir sistemde bu iki hata türü arasında dengeli bir trade-off kurulmalıdır.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Saldırı tespiti sistemleri IP adresleri, zaman damgaları ve bağlantı örüntüleri gibi kişisel veri niteliği taşıyabilecek bilgileri işler. GDPR bu tür verilerin işlenmesinde amaçla sınırlılık, veri minimizasyonu ve orantılılık ilkelerine uyulmasını zorunlu kılmaktadır. Sistemin tasarımında bu ilkeler gözetilmezse ciddi uyum ve etik sorunları ortaya çıkabilir.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Burada temel bir etik ikilemle karşı karşıyayız. Recall'u artırmak — yani daha az saldırı kaçırmak — kaçınılmaz olarak daha fazla yanlış alarmı beraberinde getirir ve masum kullanıcıları etkiler. Tersine precision'ı artırmak daha az yanlış alarm anlamına gelir ama bazı gerçek saldırılar atlanır. Bu denge, sistemin kullanıldığı bağlama ve risk iştahına göre belirlenmelidir.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Özetlemek gerekirse: Random Forest modeli teknik açıdan güçlü sonuçlar verdi. Ancak yanlış sınıflandırmalar hem güvenlik hem etik açıdan gerçek riskler doğuruyor. En önemli çıkarımım şu: Büyük veri güvenlik sistemleri sadece doğruluk oranıyla değil, verdiği kararların insan üzerindeki etkisiyle de değerlendirilmelidir. Teşekkür ederim, sorularınızı alabilirim.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7E"/>
        </a:solidFill>
        <a:effectLst/>
      </p:bgPr>
    </p:bg>
    <p:spTree>
      <p:nvGrpSpPr>
        <p:cNvPr id="1" name=""/>
        <p:cNvGrpSpPr/>
        <p:nvPr/>
      </p:nvGrpSpPr>
      <p:grpSpPr>
        <a:xfrm>
          <a:off x="0" y="0"/>
          <a:ext cx="0" cy="0"/>
          <a:chOff x="0" y="0"/>
          <a:chExt cx="0" cy="0"/>
        </a:xfrm>
      </p:grpSpPr>
      <p:sp>
        <p:nvSpPr>
          <p:cNvPr id="2" name="Rectangle 1"/>
          <p:cNvSpPr/>
          <p:nvPr/>
        </p:nvSpPr>
        <p:spPr>
          <a:xfrm>
            <a:off x="0" y="0"/>
            <a:ext cx="7315017" cy="6858000"/>
          </a:xfrm>
          <a:prstGeom prst="rect">
            <a:avLst/>
          </a:prstGeom>
          <a:solidFill>
            <a:srgbClr val="1E2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760720"/>
            <a:ext cx="12191695" cy="109728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t"/>
          <a:lstStyle/>
          <a:p>
            <a:r>
              <a:rPr lang="tr-TR" sz="1400" dirty="0"/>
              <a:t>Nesibe Şeyma CAN | 255B7054</a:t>
            </a:r>
            <a:endParaRPr sz="1400" dirty="0"/>
          </a:p>
        </p:txBody>
      </p:sp>
      <p:sp>
        <p:nvSpPr>
          <p:cNvPr id="4" name="Rectangle 3"/>
          <p:cNvSpPr/>
          <p:nvPr/>
        </p:nvSpPr>
        <p:spPr>
          <a:xfrm>
            <a:off x="0" y="5715000"/>
            <a:ext cx="12191695" cy="457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14400"/>
            <a:ext cx="9601200" cy="523220"/>
          </a:xfrm>
          <a:prstGeom prst="rect">
            <a:avLst/>
          </a:prstGeom>
          <a:noFill/>
        </p:spPr>
        <p:txBody>
          <a:bodyPr wrap="square" lIns="0" tIns="0" rIns="0" bIns="0">
            <a:spAutoFit/>
          </a:bodyPr>
          <a:lstStyle/>
          <a:p>
            <a:pPr algn="l"/>
            <a:r>
              <a:rPr sz="3400" b="1" i="0" dirty="0">
                <a:solidFill>
                  <a:srgbClr val="FFFFFF"/>
                </a:solidFill>
                <a:effectLst>
                  <a:outerShdw blurRad="38100" dist="38100" dir="2700000" algn="tl">
                    <a:srgbClr val="000000">
                      <a:alpha val="43137"/>
                    </a:srgbClr>
                  </a:outerShdw>
                </a:effectLst>
                <a:latin typeface="Calibri"/>
              </a:rPr>
              <a:t>Büyük Veri </a:t>
            </a:r>
            <a:r>
              <a:rPr sz="3400" b="1" i="0" dirty="0" err="1">
                <a:solidFill>
                  <a:srgbClr val="FFFFFF"/>
                </a:solidFill>
                <a:effectLst>
                  <a:outerShdw blurRad="38100" dist="38100" dir="2700000" algn="tl">
                    <a:srgbClr val="000000">
                      <a:alpha val="43137"/>
                    </a:srgbClr>
                  </a:outerShdw>
                </a:effectLst>
                <a:latin typeface="Calibri"/>
              </a:rPr>
              <a:t>Güvenliği</a:t>
            </a:r>
            <a:r>
              <a:rPr sz="3400" b="1" i="0" dirty="0">
                <a:solidFill>
                  <a:srgbClr val="FFFFFF"/>
                </a:solidFill>
                <a:effectLst>
                  <a:outerShdw blurRad="38100" dist="38100" dir="2700000" algn="tl">
                    <a:srgbClr val="000000">
                      <a:alpha val="43137"/>
                    </a:srgbClr>
                  </a:outerShdw>
                </a:effectLst>
                <a:latin typeface="Calibri"/>
              </a:rPr>
              <a:t>:</a:t>
            </a:r>
          </a:p>
        </p:txBody>
      </p:sp>
      <p:sp>
        <p:nvSpPr>
          <p:cNvPr id="6" name="TextBox 5"/>
          <p:cNvSpPr txBox="1"/>
          <p:nvPr/>
        </p:nvSpPr>
        <p:spPr>
          <a:xfrm>
            <a:off x="548640" y="1691640"/>
            <a:ext cx="9601200" cy="1463040"/>
          </a:xfrm>
          <a:prstGeom prst="rect">
            <a:avLst/>
          </a:prstGeom>
          <a:noFill/>
        </p:spPr>
        <p:txBody>
          <a:bodyPr wrap="square" lIns="0" tIns="0" rIns="0" bIns="0">
            <a:spAutoFit/>
          </a:bodyPr>
          <a:lstStyle/>
          <a:p>
            <a:pPr algn="l"/>
            <a:r>
              <a:rPr sz="2600" b="0" i="0">
                <a:solidFill>
                  <a:srgbClr val="BBDEFB"/>
                </a:solidFill>
                <a:latin typeface="Calibri"/>
              </a:rPr>
              <a:t>Ağ Trafiği Verilerinde Makine Öğrenimi ile
Saldırı Tespiti ve Etik Değerlendirme</a:t>
            </a:r>
          </a:p>
        </p:txBody>
      </p:sp>
      <p:sp>
        <p:nvSpPr>
          <p:cNvPr id="7" name="Rectangle 6"/>
          <p:cNvSpPr/>
          <p:nvPr/>
        </p:nvSpPr>
        <p:spPr>
          <a:xfrm>
            <a:off x="548640" y="3246120"/>
            <a:ext cx="6400800" cy="457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3383280"/>
            <a:ext cx="9601200" cy="548640"/>
          </a:xfrm>
          <a:prstGeom prst="rect">
            <a:avLst/>
          </a:prstGeom>
          <a:noFill/>
        </p:spPr>
        <p:txBody>
          <a:bodyPr wrap="square" lIns="0" tIns="0" rIns="0" bIns="0">
            <a:spAutoFit/>
          </a:bodyPr>
          <a:lstStyle/>
          <a:p>
            <a:pPr algn="l"/>
            <a:r>
              <a:rPr sz="1700" b="0" i="0">
                <a:solidFill>
                  <a:srgbClr val="90CAF9"/>
                </a:solidFill>
                <a:latin typeface="Calibri"/>
              </a:rPr>
              <a:t>UNSW-NB15 Veri Seti Üzerinde Random Forest Uygulaması</a:t>
            </a:r>
          </a:p>
        </p:txBody>
      </p:sp>
      <p:sp>
        <p:nvSpPr>
          <p:cNvPr id="10" name="TextBox 9"/>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Projenin Amacı</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2</a:t>
            </a:r>
          </a:p>
        </p:txBody>
      </p:sp>
      <p:sp>
        <p:nvSpPr>
          <p:cNvPr id="5" name="TextBox 4"/>
          <p:cNvSpPr txBox="1"/>
          <p:nvPr/>
        </p:nvSpPr>
        <p:spPr>
          <a:xfrm>
            <a:off x="457200" y="960120"/>
            <a:ext cx="11277295" cy="2926080"/>
          </a:xfrm>
          <a:prstGeom prst="rect">
            <a:avLst/>
          </a:prstGeom>
          <a:noFill/>
        </p:spPr>
        <p:txBody>
          <a:bodyPr wrap="square" lIns="45720" tIns="27432" rIns="45720" bIns="27432">
            <a:spAutoFit/>
          </a:bodyPr>
          <a:lstStyle/>
          <a:p>
            <a:pPr>
              <a:spcAft>
                <a:spcPts val="600"/>
              </a:spcAft>
            </a:pPr>
            <a:r>
              <a:rPr sz="1700">
                <a:solidFill>
                  <a:srgbClr val="1A237E"/>
                </a:solidFill>
                <a:latin typeface="Calibri"/>
              </a:rPr>
              <a:t>▸  Ağ trafiği verileri üzerinde makine öğrenimi ile saldırı tespiti modeli kurmak</a:t>
            </a:r>
          </a:p>
          <a:p>
            <a:pPr>
              <a:spcAft>
                <a:spcPts val="600"/>
              </a:spcAft>
            </a:pPr>
            <a:r>
              <a:rPr sz="1700">
                <a:solidFill>
                  <a:srgbClr val="1A237E"/>
                </a:solidFill>
                <a:latin typeface="Calibri"/>
              </a:rPr>
              <a:t>▸  Modelin başarısını teknik metriklerle (Accuracy, F1, ROC-AUC) ölçmek</a:t>
            </a:r>
          </a:p>
          <a:p>
            <a:pPr>
              <a:spcAft>
                <a:spcPts val="600"/>
              </a:spcAft>
            </a:pPr>
            <a:r>
              <a:rPr sz="1700">
                <a:solidFill>
                  <a:srgbClr val="1A237E"/>
                </a:solidFill>
                <a:latin typeface="Calibri"/>
              </a:rPr>
              <a:t>▸  Yanlış sınıflandırmaların (FP/FN) güvenlik ve etik risklerini analiz etmek</a:t>
            </a:r>
          </a:p>
          <a:p>
            <a:pPr>
              <a:spcAft>
                <a:spcPts val="600"/>
              </a:spcAft>
            </a:pPr>
            <a:r>
              <a:rPr sz="1700">
                <a:solidFill>
                  <a:srgbClr val="1A237E"/>
                </a:solidFill>
                <a:latin typeface="Calibri"/>
              </a:rPr>
              <a:t>▸  İşlenen verilerin mahremiyet ve GDPR boyutunu değerlendirmek</a:t>
            </a:r>
          </a:p>
        </p:txBody>
      </p:sp>
      <p:sp>
        <p:nvSpPr>
          <p:cNvPr id="6" name="Rectangle 5"/>
          <p:cNvSpPr/>
          <p:nvPr/>
        </p:nvSpPr>
        <p:spPr>
          <a:xfrm>
            <a:off x="457200" y="5120640"/>
            <a:ext cx="11277295" cy="1143000"/>
          </a:xfrm>
          <a:prstGeom prst="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5166360"/>
            <a:ext cx="11002975" cy="347472"/>
          </a:xfrm>
          <a:prstGeom prst="rect">
            <a:avLst/>
          </a:prstGeom>
          <a:noFill/>
        </p:spPr>
        <p:txBody>
          <a:bodyPr wrap="square" lIns="0" tIns="0" rIns="0" bIns="0">
            <a:spAutoFit/>
          </a:bodyPr>
          <a:lstStyle/>
          <a:p>
            <a:pPr algn="l"/>
            <a:r>
              <a:rPr sz="1400" b="1" i="0">
                <a:solidFill>
                  <a:srgbClr val="1565C0"/>
                </a:solidFill>
                <a:latin typeface="Calibri"/>
              </a:rPr>
              <a:t>Neden Büyük Veri?</a:t>
            </a:r>
          </a:p>
        </p:txBody>
      </p:sp>
      <p:sp>
        <p:nvSpPr>
          <p:cNvPr id="8" name="TextBox 7"/>
          <p:cNvSpPr txBox="1"/>
          <p:nvPr/>
        </p:nvSpPr>
        <p:spPr>
          <a:xfrm>
            <a:off x="594360" y="5486400"/>
            <a:ext cx="11002975" cy="777240"/>
          </a:xfrm>
          <a:prstGeom prst="rect">
            <a:avLst/>
          </a:prstGeom>
          <a:noFill/>
        </p:spPr>
        <p:txBody>
          <a:bodyPr wrap="square" lIns="0" tIns="0" rIns="0" bIns="0">
            <a:spAutoFit/>
          </a:bodyPr>
          <a:lstStyle/>
          <a:p>
            <a:pPr algn="l"/>
            <a:r>
              <a:rPr sz="1300" b="0" i="0">
                <a:solidFill>
                  <a:srgbClr val="1A237E"/>
                </a:solidFill>
                <a:latin typeface="Calibri"/>
              </a:rPr>
              <a:t>Ağ trafiği verileri saniyede milyonlarca kayıt üretir — yüksek hacim, hız ve çeşitlilik içerir. Bu ölçekte manuel analiz yetersiz kalır; makine öğrenimi zorunlu hale gelir.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UNSW-NB15 Veri Seti</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3</a:t>
            </a:r>
          </a:p>
        </p:txBody>
      </p:sp>
      <p:sp>
        <p:nvSpPr>
          <p:cNvPr id="5" name="TextBox 4"/>
          <p:cNvSpPr txBox="1"/>
          <p:nvPr/>
        </p:nvSpPr>
        <p:spPr>
          <a:xfrm>
            <a:off x="365760" y="914400"/>
            <a:ext cx="5029200" cy="365760"/>
          </a:xfrm>
          <a:prstGeom prst="rect">
            <a:avLst/>
          </a:prstGeom>
          <a:noFill/>
        </p:spPr>
        <p:txBody>
          <a:bodyPr wrap="square" lIns="0" tIns="0" rIns="0" bIns="0">
            <a:spAutoFit/>
          </a:bodyPr>
          <a:lstStyle/>
          <a:p>
            <a:pPr algn="l"/>
            <a:r>
              <a:rPr sz="1500" b="1" i="0">
                <a:solidFill>
                  <a:srgbClr val="1565C0"/>
                </a:solidFill>
                <a:latin typeface="Calibri"/>
              </a:rPr>
              <a:t>Veri Seti Hakkında</a:t>
            </a:r>
          </a:p>
        </p:txBody>
      </p:sp>
      <p:sp>
        <p:nvSpPr>
          <p:cNvPr id="6" name="TextBox 5"/>
          <p:cNvSpPr txBox="1"/>
          <p:nvPr/>
        </p:nvSpPr>
        <p:spPr>
          <a:xfrm>
            <a:off x="365760" y="1325880"/>
            <a:ext cx="5029200" cy="3657600"/>
          </a:xfrm>
          <a:prstGeom prst="rect">
            <a:avLst/>
          </a:prstGeom>
          <a:noFill/>
        </p:spPr>
        <p:txBody>
          <a:bodyPr wrap="square" lIns="45720" tIns="27432" rIns="45720" bIns="27432">
            <a:spAutoFit/>
          </a:bodyPr>
          <a:lstStyle/>
          <a:p>
            <a:pPr>
              <a:spcAft>
                <a:spcPts val="600"/>
              </a:spcAft>
            </a:pPr>
            <a:r>
              <a:rPr sz="1300">
                <a:solidFill>
                  <a:srgbClr val="1A237E"/>
                </a:solidFill>
                <a:latin typeface="Calibri"/>
              </a:rPr>
              <a:t>▸  Australian Centre for Cyber Security (ACCS) tarafından oluşturuldu</a:t>
            </a:r>
          </a:p>
          <a:p>
            <a:pPr>
              <a:spcAft>
                <a:spcPts val="600"/>
              </a:spcAft>
            </a:pPr>
            <a:r>
              <a:rPr sz="1300">
                <a:solidFill>
                  <a:srgbClr val="1A237E"/>
                </a:solidFill>
                <a:latin typeface="Calibri"/>
              </a:rPr>
              <a:t>▸  IXIA PerfectStorm aracıyla gerçek saldırı simülasyonu</a:t>
            </a:r>
          </a:p>
          <a:p>
            <a:pPr>
              <a:spcAft>
                <a:spcPts val="600"/>
              </a:spcAft>
            </a:pPr>
            <a:r>
              <a:rPr sz="1300">
                <a:solidFill>
                  <a:srgbClr val="1A237E"/>
                </a:solidFill>
                <a:latin typeface="Calibri"/>
              </a:rPr>
              <a:t>▸  100 GB ham trafik verisi (PCAP formatı)</a:t>
            </a:r>
          </a:p>
          <a:p>
            <a:pPr>
              <a:spcAft>
                <a:spcPts val="600"/>
              </a:spcAft>
            </a:pPr>
            <a:r>
              <a:rPr sz="1300">
                <a:solidFill>
                  <a:srgbClr val="1A237E"/>
                </a:solidFill>
                <a:latin typeface="Calibri"/>
              </a:rPr>
              <a:t>▸  Toplam 2.5 milyon+ kayıt, 49 özellik</a:t>
            </a:r>
          </a:p>
          <a:p>
            <a:pPr>
              <a:spcAft>
                <a:spcPts val="600"/>
              </a:spcAft>
            </a:pPr>
            <a:r>
              <a:rPr sz="1300">
                <a:solidFill>
                  <a:srgbClr val="1A237E"/>
                </a:solidFill>
                <a:latin typeface="Calibri"/>
              </a:rPr>
              <a:t>▸  9 farklı saldırı kategorisi barındırmaktadır</a:t>
            </a:r>
          </a:p>
          <a:p>
            <a:pPr>
              <a:spcAft>
                <a:spcPts val="600"/>
              </a:spcAft>
            </a:pPr>
            <a:r>
              <a:rPr sz="1300">
                <a:solidFill>
                  <a:srgbClr val="1A237E"/>
                </a:solidFill>
                <a:latin typeface="Calibri"/>
              </a:rPr>
              <a:t>▸  Akademik alanda yaygın referans veri seti</a:t>
            </a:r>
          </a:p>
        </p:txBody>
      </p:sp>
      <p:sp>
        <p:nvSpPr>
          <p:cNvPr id="7" name="TextBox 6"/>
          <p:cNvSpPr txBox="1"/>
          <p:nvPr/>
        </p:nvSpPr>
        <p:spPr>
          <a:xfrm>
            <a:off x="5669280" y="914400"/>
            <a:ext cx="6126480" cy="365760"/>
          </a:xfrm>
          <a:prstGeom prst="rect">
            <a:avLst/>
          </a:prstGeom>
          <a:noFill/>
        </p:spPr>
        <p:txBody>
          <a:bodyPr wrap="square" lIns="0" tIns="0" rIns="0" bIns="0">
            <a:spAutoFit/>
          </a:bodyPr>
          <a:lstStyle/>
          <a:p>
            <a:pPr algn="l"/>
            <a:r>
              <a:rPr sz="1500" b="1" i="0">
                <a:solidFill>
                  <a:srgbClr val="1565C0"/>
                </a:solidFill>
                <a:latin typeface="Calibri"/>
              </a:rPr>
              <a:t>Saldırı Kategorileri</a:t>
            </a:r>
          </a:p>
        </p:txBody>
      </p:sp>
      <p:graphicFrame>
        <p:nvGraphicFramePr>
          <p:cNvPr id="8" name="Table 7"/>
          <p:cNvGraphicFramePr>
            <a:graphicFrameLocks noGrp="1"/>
          </p:cNvGraphicFramePr>
          <p:nvPr/>
        </p:nvGraphicFramePr>
        <p:xfrm>
          <a:off x="5669280" y="1325880"/>
          <a:ext cx="6126480" cy="4754880"/>
        </p:xfrm>
        <a:graphic>
          <a:graphicData uri="http://schemas.openxmlformats.org/drawingml/2006/table">
            <a:tbl>
              <a:tblPr firstRow="1" bandRow="1">
                <a:tableStyleId>{5C22544A-7EE6-4342-B048-85BDC9FD1C3A}</a:tableStyleId>
              </a:tblPr>
              <a:tblGrid>
                <a:gridCol w="30632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475488">
                <a:tc>
                  <a:txBody>
                    <a:bodyPr/>
                    <a:lstStyle/>
                    <a:p>
                      <a:pPr algn="l"/>
                      <a:r>
                        <a:rPr sz="1200" b="1">
                          <a:solidFill>
                            <a:srgbClr val="FFFFFF"/>
                          </a:solidFill>
                        </a:rPr>
                        <a:t>Saldırı Tipi</a:t>
                      </a:r>
                    </a:p>
                  </a:txBody>
                  <a:tcPr>
                    <a:solidFill>
                      <a:srgbClr val="1A237E"/>
                    </a:solidFill>
                  </a:tcPr>
                </a:tc>
                <a:tc>
                  <a:txBody>
                    <a:bodyPr/>
                    <a:lstStyle/>
                    <a:p>
                      <a:pPr algn="ctr"/>
                      <a:r>
                        <a:rPr sz="1200" b="1">
                          <a:solidFill>
                            <a:srgbClr val="FFFFFF"/>
                          </a:solidFill>
                        </a:rPr>
                        <a:t>Açıklama</a:t>
                      </a:r>
                    </a:p>
                  </a:txBody>
                  <a:tcPr>
                    <a:solidFill>
                      <a:srgbClr val="1A237E"/>
                    </a:solidFill>
                  </a:tcPr>
                </a:tc>
                <a:extLst>
                  <a:ext uri="{0D108BD9-81ED-4DB2-BD59-A6C34878D82A}">
                    <a16:rowId xmlns:a16="http://schemas.microsoft.com/office/drawing/2014/main" val="10000"/>
                  </a:ext>
                </a:extLst>
              </a:tr>
              <a:tr h="475488">
                <a:tc>
                  <a:txBody>
                    <a:bodyPr/>
                    <a:lstStyle/>
                    <a:p>
                      <a:pPr algn="l"/>
                      <a:r>
                        <a:rPr sz="1100">
                          <a:solidFill>
                            <a:srgbClr val="1A237E"/>
                          </a:solidFill>
                        </a:rPr>
                        <a:t>Fuzzers</a:t>
                      </a:r>
                    </a:p>
                  </a:txBody>
                  <a:tcPr>
                    <a:solidFill>
                      <a:srgbClr val="FFFFFF"/>
                    </a:solidFill>
                  </a:tcPr>
                </a:tc>
                <a:tc>
                  <a:txBody>
                    <a:bodyPr/>
                    <a:lstStyle/>
                    <a:p>
                      <a:pPr algn="ctr"/>
                      <a:r>
                        <a:rPr sz="1100">
                          <a:solidFill>
                            <a:srgbClr val="1A237E"/>
                          </a:solidFill>
                        </a:rPr>
                        <a:t>Sistem çöküşü için rastgele veri</a:t>
                      </a:r>
                    </a:p>
                  </a:txBody>
                  <a:tcPr>
                    <a:solidFill>
                      <a:srgbClr val="FFFFFF"/>
                    </a:solidFill>
                  </a:tcPr>
                </a:tc>
                <a:extLst>
                  <a:ext uri="{0D108BD9-81ED-4DB2-BD59-A6C34878D82A}">
                    <a16:rowId xmlns:a16="http://schemas.microsoft.com/office/drawing/2014/main" val="10001"/>
                  </a:ext>
                </a:extLst>
              </a:tr>
              <a:tr h="475488">
                <a:tc>
                  <a:txBody>
                    <a:bodyPr/>
                    <a:lstStyle/>
                    <a:p>
                      <a:pPr algn="l"/>
                      <a:r>
                        <a:rPr sz="1100">
                          <a:solidFill>
                            <a:srgbClr val="1A237E"/>
                          </a:solidFill>
                        </a:rPr>
                        <a:t>DoS</a:t>
                      </a:r>
                    </a:p>
                  </a:txBody>
                  <a:tcPr>
                    <a:solidFill>
                      <a:srgbClr val="E3F2FD"/>
                    </a:solidFill>
                  </a:tcPr>
                </a:tc>
                <a:tc>
                  <a:txBody>
                    <a:bodyPr/>
                    <a:lstStyle/>
                    <a:p>
                      <a:pPr algn="ctr"/>
                      <a:r>
                        <a:rPr sz="1100">
                          <a:solidFill>
                            <a:srgbClr val="1A237E"/>
                          </a:solidFill>
                        </a:rPr>
                        <a:t>Hizmet aksatma saldırısı</a:t>
                      </a:r>
                    </a:p>
                  </a:txBody>
                  <a:tcPr>
                    <a:solidFill>
                      <a:srgbClr val="E3F2FD"/>
                    </a:solidFill>
                  </a:tcPr>
                </a:tc>
                <a:extLst>
                  <a:ext uri="{0D108BD9-81ED-4DB2-BD59-A6C34878D82A}">
                    <a16:rowId xmlns:a16="http://schemas.microsoft.com/office/drawing/2014/main" val="10002"/>
                  </a:ext>
                </a:extLst>
              </a:tr>
              <a:tr h="475488">
                <a:tc>
                  <a:txBody>
                    <a:bodyPr/>
                    <a:lstStyle/>
                    <a:p>
                      <a:pPr algn="l"/>
                      <a:r>
                        <a:rPr sz="1100">
                          <a:solidFill>
                            <a:srgbClr val="1A237E"/>
                          </a:solidFill>
                        </a:rPr>
                        <a:t>Backdoor</a:t>
                      </a:r>
                    </a:p>
                  </a:txBody>
                  <a:tcPr>
                    <a:solidFill>
                      <a:srgbClr val="FFFFFF"/>
                    </a:solidFill>
                  </a:tcPr>
                </a:tc>
                <a:tc>
                  <a:txBody>
                    <a:bodyPr/>
                    <a:lstStyle/>
                    <a:p>
                      <a:pPr algn="ctr"/>
                      <a:r>
                        <a:rPr sz="1100">
                          <a:solidFill>
                            <a:srgbClr val="1A237E"/>
                          </a:solidFill>
                        </a:rPr>
                        <a:t>Yetkisiz erişim arka kapısı</a:t>
                      </a:r>
                    </a:p>
                  </a:txBody>
                  <a:tcPr>
                    <a:solidFill>
                      <a:srgbClr val="FFFFFF"/>
                    </a:solidFill>
                  </a:tcPr>
                </a:tc>
                <a:extLst>
                  <a:ext uri="{0D108BD9-81ED-4DB2-BD59-A6C34878D82A}">
                    <a16:rowId xmlns:a16="http://schemas.microsoft.com/office/drawing/2014/main" val="10003"/>
                  </a:ext>
                </a:extLst>
              </a:tr>
              <a:tr h="475488">
                <a:tc>
                  <a:txBody>
                    <a:bodyPr/>
                    <a:lstStyle/>
                    <a:p>
                      <a:pPr algn="l"/>
                      <a:r>
                        <a:rPr sz="1100">
                          <a:solidFill>
                            <a:srgbClr val="1A237E"/>
                          </a:solidFill>
                        </a:rPr>
                        <a:t>Exploits</a:t>
                      </a:r>
                    </a:p>
                  </a:txBody>
                  <a:tcPr>
                    <a:solidFill>
                      <a:srgbClr val="E3F2FD"/>
                    </a:solidFill>
                  </a:tcPr>
                </a:tc>
                <a:tc>
                  <a:txBody>
                    <a:bodyPr/>
                    <a:lstStyle/>
                    <a:p>
                      <a:pPr algn="ctr"/>
                      <a:r>
                        <a:rPr sz="1100">
                          <a:solidFill>
                            <a:srgbClr val="1A237E"/>
                          </a:solidFill>
                        </a:rPr>
                        <a:t>Güvenlik açığı istismarı</a:t>
                      </a:r>
                    </a:p>
                  </a:txBody>
                  <a:tcPr>
                    <a:solidFill>
                      <a:srgbClr val="E3F2FD"/>
                    </a:solidFill>
                  </a:tcPr>
                </a:tc>
                <a:extLst>
                  <a:ext uri="{0D108BD9-81ED-4DB2-BD59-A6C34878D82A}">
                    <a16:rowId xmlns:a16="http://schemas.microsoft.com/office/drawing/2014/main" val="10004"/>
                  </a:ext>
                </a:extLst>
              </a:tr>
              <a:tr h="475488">
                <a:tc>
                  <a:txBody>
                    <a:bodyPr/>
                    <a:lstStyle/>
                    <a:p>
                      <a:pPr algn="l"/>
                      <a:r>
                        <a:rPr sz="1100">
                          <a:solidFill>
                            <a:srgbClr val="1A237E"/>
                          </a:solidFill>
                        </a:rPr>
                        <a:t>Reconnaissance</a:t>
                      </a:r>
                    </a:p>
                  </a:txBody>
                  <a:tcPr>
                    <a:solidFill>
                      <a:srgbClr val="FFFFFF"/>
                    </a:solidFill>
                  </a:tcPr>
                </a:tc>
                <a:tc>
                  <a:txBody>
                    <a:bodyPr/>
                    <a:lstStyle/>
                    <a:p>
                      <a:pPr algn="ctr"/>
                      <a:r>
                        <a:rPr sz="1100">
                          <a:solidFill>
                            <a:srgbClr val="1A237E"/>
                          </a:solidFill>
                        </a:rPr>
                        <a:t>Keşif ve tarama saldırısı</a:t>
                      </a:r>
                    </a:p>
                  </a:txBody>
                  <a:tcPr>
                    <a:solidFill>
                      <a:srgbClr val="FFFFFF"/>
                    </a:solidFill>
                  </a:tcPr>
                </a:tc>
                <a:extLst>
                  <a:ext uri="{0D108BD9-81ED-4DB2-BD59-A6C34878D82A}">
                    <a16:rowId xmlns:a16="http://schemas.microsoft.com/office/drawing/2014/main" val="10005"/>
                  </a:ext>
                </a:extLst>
              </a:tr>
              <a:tr h="475488">
                <a:tc>
                  <a:txBody>
                    <a:bodyPr/>
                    <a:lstStyle/>
                    <a:p>
                      <a:pPr algn="l"/>
                      <a:r>
                        <a:rPr sz="1100">
                          <a:solidFill>
                            <a:srgbClr val="1A237E"/>
                          </a:solidFill>
                        </a:rPr>
                        <a:t>Shellcode</a:t>
                      </a:r>
                    </a:p>
                  </a:txBody>
                  <a:tcPr>
                    <a:solidFill>
                      <a:srgbClr val="E3F2FD"/>
                    </a:solidFill>
                  </a:tcPr>
                </a:tc>
                <a:tc>
                  <a:txBody>
                    <a:bodyPr/>
                    <a:lstStyle/>
                    <a:p>
                      <a:pPr algn="ctr"/>
                      <a:r>
                        <a:rPr sz="1100">
                          <a:solidFill>
                            <a:srgbClr val="1A237E"/>
                          </a:solidFill>
                        </a:rPr>
                        <a:t>Kabuk kodu enjeksiyonu</a:t>
                      </a:r>
                    </a:p>
                  </a:txBody>
                  <a:tcPr>
                    <a:solidFill>
                      <a:srgbClr val="E3F2FD"/>
                    </a:solidFill>
                  </a:tcPr>
                </a:tc>
                <a:extLst>
                  <a:ext uri="{0D108BD9-81ED-4DB2-BD59-A6C34878D82A}">
                    <a16:rowId xmlns:a16="http://schemas.microsoft.com/office/drawing/2014/main" val="10006"/>
                  </a:ext>
                </a:extLst>
              </a:tr>
              <a:tr h="475488">
                <a:tc>
                  <a:txBody>
                    <a:bodyPr/>
                    <a:lstStyle/>
                    <a:p>
                      <a:pPr algn="l"/>
                      <a:r>
                        <a:rPr sz="1100">
                          <a:solidFill>
                            <a:srgbClr val="1A237E"/>
                          </a:solidFill>
                        </a:rPr>
                        <a:t>Generic</a:t>
                      </a:r>
                    </a:p>
                  </a:txBody>
                  <a:tcPr>
                    <a:solidFill>
                      <a:srgbClr val="FFFFFF"/>
                    </a:solidFill>
                  </a:tcPr>
                </a:tc>
                <a:tc>
                  <a:txBody>
                    <a:bodyPr/>
                    <a:lstStyle/>
                    <a:p>
                      <a:pPr algn="ctr"/>
                      <a:r>
                        <a:rPr sz="1100">
                          <a:solidFill>
                            <a:srgbClr val="1A237E"/>
                          </a:solidFill>
                        </a:rPr>
                        <a:t>Şifreleme kırma saldırısı</a:t>
                      </a:r>
                    </a:p>
                  </a:txBody>
                  <a:tcPr>
                    <a:solidFill>
                      <a:srgbClr val="FFFFFF"/>
                    </a:solidFill>
                  </a:tcPr>
                </a:tc>
                <a:extLst>
                  <a:ext uri="{0D108BD9-81ED-4DB2-BD59-A6C34878D82A}">
                    <a16:rowId xmlns:a16="http://schemas.microsoft.com/office/drawing/2014/main" val="10007"/>
                  </a:ext>
                </a:extLst>
              </a:tr>
              <a:tr h="475488">
                <a:tc>
                  <a:txBody>
                    <a:bodyPr/>
                    <a:lstStyle/>
                    <a:p>
                      <a:pPr algn="l"/>
                      <a:r>
                        <a:rPr sz="1100">
                          <a:solidFill>
                            <a:srgbClr val="1A237E"/>
                          </a:solidFill>
                        </a:rPr>
                        <a:t>Analysis</a:t>
                      </a:r>
                    </a:p>
                  </a:txBody>
                  <a:tcPr>
                    <a:solidFill>
                      <a:srgbClr val="E3F2FD"/>
                    </a:solidFill>
                  </a:tcPr>
                </a:tc>
                <a:tc>
                  <a:txBody>
                    <a:bodyPr/>
                    <a:lstStyle/>
                    <a:p>
                      <a:pPr algn="ctr"/>
                      <a:r>
                        <a:rPr sz="1100">
                          <a:solidFill>
                            <a:srgbClr val="1A237E"/>
                          </a:solidFill>
                        </a:rPr>
                        <a:t>Port tarama ve analiz</a:t>
                      </a:r>
                    </a:p>
                  </a:txBody>
                  <a:tcPr>
                    <a:solidFill>
                      <a:srgbClr val="E3F2FD"/>
                    </a:solidFill>
                  </a:tcPr>
                </a:tc>
                <a:extLst>
                  <a:ext uri="{0D108BD9-81ED-4DB2-BD59-A6C34878D82A}">
                    <a16:rowId xmlns:a16="http://schemas.microsoft.com/office/drawing/2014/main" val="10008"/>
                  </a:ext>
                </a:extLst>
              </a:tr>
              <a:tr h="475488">
                <a:tc>
                  <a:txBody>
                    <a:bodyPr/>
                    <a:lstStyle/>
                    <a:p>
                      <a:pPr algn="l"/>
                      <a:r>
                        <a:rPr sz="1100">
                          <a:solidFill>
                            <a:srgbClr val="1A237E"/>
                          </a:solidFill>
                        </a:rPr>
                        <a:t>Worms</a:t>
                      </a:r>
                    </a:p>
                  </a:txBody>
                  <a:tcPr>
                    <a:solidFill>
                      <a:srgbClr val="FFFFFF"/>
                    </a:solidFill>
                  </a:tcPr>
                </a:tc>
                <a:tc>
                  <a:txBody>
                    <a:bodyPr/>
                    <a:lstStyle/>
                    <a:p>
                      <a:pPr algn="ctr"/>
                      <a:r>
                        <a:rPr sz="1100">
                          <a:solidFill>
                            <a:srgbClr val="1A237E"/>
                          </a:solidFill>
                        </a:rPr>
                        <a:t>Ağ solucanı yayılımı</a:t>
                      </a:r>
                    </a:p>
                  </a:txBody>
                  <a:tcP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Neden Büyük Veri? — 3V Modeli</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4</a:t>
            </a:r>
          </a:p>
        </p:txBody>
      </p:sp>
      <p:sp>
        <p:nvSpPr>
          <p:cNvPr id="5" name="Rectangle 4"/>
          <p:cNvSpPr/>
          <p:nvPr/>
        </p:nvSpPr>
        <p:spPr>
          <a:xfrm>
            <a:off x="365760" y="914400"/>
            <a:ext cx="3698138"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41832"/>
            <a:ext cx="3515258" cy="822960"/>
          </a:xfrm>
          <a:prstGeom prst="rect">
            <a:avLst/>
          </a:prstGeom>
          <a:noFill/>
        </p:spPr>
        <p:txBody>
          <a:bodyPr wrap="square" lIns="0" tIns="0" rIns="0" bIns="0">
            <a:spAutoFit/>
          </a:bodyPr>
          <a:lstStyle/>
          <a:p>
            <a:pPr algn="ctr"/>
            <a:r>
              <a:rPr sz="1600" b="1" i="0">
                <a:solidFill>
                  <a:srgbClr val="FFFFFF"/>
                </a:solidFill>
                <a:latin typeface="Calibri"/>
              </a:rPr>
              <a:t>HACİM
(Volume)</a:t>
            </a:r>
          </a:p>
        </p:txBody>
      </p:sp>
      <p:sp>
        <p:nvSpPr>
          <p:cNvPr id="7" name="Rectangle 6"/>
          <p:cNvSpPr/>
          <p:nvPr/>
        </p:nvSpPr>
        <p:spPr>
          <a:xfrm>
            <a:off x="365760" y="1856231"/>
            <a:ext cx="3698138" cy="2926080"/>
          </a:xfrm>
          <a:prstGeom prst="rect">
            <a:avLst/>
          </a:prstGeom>
          <a:solidFill>
            <a:srgbClr val="E3F2FD"/>
          </a:solidFill>
          <a:ln w="127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920240"/>
            <a:ext cx="3423818" cy="2788920"/>
          </a:xfrm>
          <a:prstGeom prst="rect">
            <a:avLst/>
          </a:prstGeom>
          <a:noFill/>
        </p:spPr>
        <p:txBody>
          <a:bodyPr wrap="square" lIns="0" tIns="0" rIns="0" bIns="0">
            <a:spAutoFit/>
          </a:bodyPr>
          <a:lstStyle/>
          <a:p>
            <a:pPr algn="l"/>
            <a:r>
              <a:rPr sz="1300" b="0" i="0">
                <a:solidFill>
                  <a:srgbClr val="1A237E"/>
                </a:solidFill>
                <a:latin typeface="Calibri"/>
              </a:rPr>
              <a:t>Milyonlarca ağ bağlantısı kaydı
Gerçek dünya ağ ortamı
100 GB+ ham veri
CSV + PCAP formatı</a:t>
            </a:r>
          </a:p>
        </p:txBody>
      </p:sp>
      <p:sp>
        <p:nvSpPr>
          <p:cNvPr id="9" name="Rectangle 8"/>
          <p:cNvSpPr/>
          <p:nvPr/>
        </p:nvSpPr>
        <p:spPr>
          <a:xfrm>
            <a:off x="4246778" y="914400"/>
            <a:ext cx="3698138" cy="9144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38218" y="941832"/>
            <a:ext cx="3515258" cy="822960"/>
          </a:xfrm>
          <a:prstGeom prst="rect">
            <a:avLst/>
          </a:prstGeom>
          <a:noFill/>
        </p:spPr>
        <p:txBody>
          <a:bodyPr wrap="square" lIns="0" tIns="0" rIns="0" bIns="0">
            <a:spAutoFit/>
          </a:bodyPr>
          <a:lstStyle/>
          <a:p>
            <a:pPr algn="ctr"/>
            <a:r>
              <a:rPr sz="1600" b="1" i="0">
                <a:solidFill>
                  <a:srgbClr val="FFFFFF"/>
                </a:solidFill>
                <a:latin typeface="Calibri"/>
              </a:rPr>
              <a:t>HIZ
(Velocity)</a:t>
            </a:r>
          </a:p>
        </p:txBody>
      </p:sp>
      <p:sp>
        <p:nvSpPr>
          <p:cNvPr id="11" name="Rectangle 10"/>
          <p:cNvSpPr/>
          <p:nvPr/>
        </p:nvSpPr>
        <p:spPr>
          <a:xfrm>
            <a:off x="4246778" y="1856231"/>
            <a:ext cx="3698138" cy="2926080"/>
          </a:xfrm>
          <a:prstGeom prst="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3938" y="1920240"/>
            <a:ext cx="3423818" cy="2788920"/>
          </a:xfrm>
          <a:prstGeom prst="rect">
            <a:avLst/>
          </a:prstGeom>
          <a:noFill/>
        </p:spPr>
        <p:txBody>
          <a:bodyPr wrap="square" lIns="0" tIns="0" rIns="0" bIns="0">
            <a:spAutoFit/>
          </a:bodyPr>
          <a:lstStyle/>
          <a:p>
            <a:pPr algn="l"/>
            <a:r>
              <a:rPr sz="1300" b="0" i="0">
                <a:solidFill>
                  <a:srgbClr val="1A237E"/>
                </a:solidFill>
                <a:latin typeface="Calibri"/>
              </a:rPr>
              <a:t>Gerçek zamanlı trafik akışı
Anlık tehdit tespiti gerekliliği
Saniyede binlerce kayıt
Sürekli güncellenen veri</a:t>
            </a:r>
          </a:p>
        </p:txBody>
      </p:sp>
      <p:sp>
        <p:nvSpPr>
          <p:cNvPr id="13" name="Rectangle 12"/>
          <p:cNvSpPr/>
          <p:nvPr/>
        </p:nvSpPr>
        <p:spPr>
          <a:xfrm>
            <a:off x="8127796" y="914400"/>
            <a:ext cx="3698138" cy="914400"/>
          </a:xfrm>
          <a:prstGeom prst="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19236" y="941832"/>
            <a:ext cx="3515258" cy="822960"/>
          </a:xfrm>
          <a:prstGeom prst="rect">
            <a:avLst/>
          </a:prstGeom>
          <a:noFill/>
        </p:spPr>
        <p:txBody>
          <a:bodyPr wrap="square" lIns="0" tIns="0" rIns="0" bIns="0">
            <a:spAutoFit/>
          </a:bodyPr>
          <a:lstStyle/>
          <a:p>
            <a:pPr algn="ctr"/>
            <a:r>
              <a:rPr sz="1600" b="1" i="0">
                <a:solidFill>
                  <a:srgbClr val="FFFFFF"/>
                </a:solidFill>
                <a:latin typeface="Calibri"/>
              </a:rPr>
              <a:t>ÇEŞİTLİLİK
(Variety)</a:t>
            </a:r>
          </a:p>
        </p:txBody>
      </p:sp>
      <p:sp>
        <p:nvSpPr>
          <p:cNvPr id="15" name="Rectangle 14"/>
          <p:cNvSpPr/>
          <p:nvPr/>
        </p:nvSpPr>
        <p:spPr>
          <a:xfrm>
            <a:off x="8127796" y="1856231"/>
            <a:ext cx="3698138" cy="2926080"/>
          </a:xfrm>
          <a:prstGeom prst="rect">
            <a:avLst/>
          </a:prstGeom>
          <a:solidFill>
            <a:srgbClr val="E3F2FD"/>
          </a:solidFill>
          <a:ln w="12700">
            <a:solidFill>
              <a:srgbClr val="2835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64956" y="1920240"/>
            <a:ext cx="3423818" cy="2788920"/>
          </a:xfrm>
          <a:prstGeom prst="rect">
            <a:avLst/>
          </a:prstGeom>
          <a:noFill/>
        </p:spPr>
        <p:txBody>
          <a:bodyPr wrap="square" lIns="0" tIns="0" rIns="0" bIns="0">
            <a:spAutoFit/>
          </a:bodyPr>
          <a:lstStyle/>
          <a:p>
            <a:pPr algn="l"/>
            <a:r>
              <a:rPr sz="1300" b="0" i="0">
                <a:solidFill>
                  <a:srgbClr val="1A237E"/>
                </a:solidFill>
                <a:latin typeface="Calibri"/>
              </a:rPr>
              <a:t>49 farklı ağ özelliği
9 saldırı kategorisi
Protokoller: TCP, UDP, HTTP...
Zamanlama + istatistiksel özellikler</a:t>
            </a:r>
          </a:p>
        </p:txBody>
      </p:sp>
      <p:sp>
        <p:nvSpPr>
          <p:cNvPr id="17" name="Rectangle 16"/>
          <p:cNvSpPr/>
          <p:nvPr/>
        </p:nvSpPr>
        <p:spPr>
          <a:xfrm>
            <a:off x="365760" y="5897880"/>
            <a:ext cx="11460175" cy="64008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5943600"/>
            <a:ext cx="11094415" cy="530352"/>
          </a:xfrm>
          <a:prstGeom prst="rect">
            <a:avLst/>
          </a:prstGeom>
          <a:noFill/>
        </p:spPr>
        <p:txBody>
          <a:bodyPr wrap="square" lIns="0" tIns="0" rIns="0" bIns="0">
            <a:spAutoFit/>
          </a:bodyPr>
          <a:lstStyle/>
          <a:p>
            <a:pPr algn="ctr"/>
            <a:r>
              <a:rPr sz="1500" b="1" i="0">
                <a:solidFill>
                  <a:srgbClr val="FFFFFF"/>
                </a:solidFill>
                <a:latin typeface="Calibri"/>
              </a:rPr>
              <a:t>→  Manuel analiz bu ölçekte imkânsızdır. Makine öğrenimi zorunludur.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Veri Keşfi (EDA): Sınıf Dağılımı</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5</a:t>
            </a:r>
          </a:p>
        </p:txBody>
      </p:sp>
      <p:pic>
        <p:nvPicPr>
          <p:cNvPr id="5" name="Picture 4" descr="class_distribution.png"/>
          <p:cNvPicPr>
            <a:picLocks noChangeAspect="1"/>
          </p:cNvPicPr>
          <p:nvPr/>
        </p:nvPicPr>
        <p:blipFill>
          <a:blip r:embed="rId3"/>
          <a:stretch>
            <a:fillRect/>
          </a:stretch>
        </p:blipFill>
        <p:spPr>
          <a:xfrm>
            <a:off x="365760" y="868680"/>
            <a:ext cx="11460175" cy="4206240"/>
          </a:xfrm>
          <a:prstGeom prst="rect">
            <a:avLst/>
          </a:prstGeom>
        </p:spPr>
      </p:pic>
      <p:sp>
        <p:nvSpPr>
          <p:cNvPr id="6" name="Rectangle 5"/>
          <p:cNvSpPr/>
          <p:nvPr/>
        </p:nvSpPr>
        <p:spPr>
          <a:xfrm>
            <a:off x="457200" y="5989320"/>
            <a:ext cx="3667658" cy="6400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007608"/>
            <a:ext cx="3576218" cy="256032"/>
          </a:xfrm>
          <a:prstGeom prst="rect">
            <a:avLst/>
          </a:prstGeom>
          <a:noFill/>
        </p:spPr>
        <p:txBody>
          <a:bodyPr wrap="square" lIns="0" tIns="0" rIns="0" bIns="0">
            <a:spAutoFit/>
          </a:bodyPr>
          <a:lstStyle/>
          <a:p>
            <a:pPr algn="ctr"/>
            <a:r>
              <a:rPr sz="1000" b="0" i="0">
                <a:solidFill>
                  <a:srgbClr val="FFFFFF"/>
                </a:solidFill>
                <a:latin typeface="Calibri"/>
              </a:rPr>
              <a:t>Eğitim Seti</a:t>
            </a:r>
          </a:p>
        </p:txBody>
      </p:sp>
      <p:sp>
        <p:nvSpPr>
          <p:cNvPr id="8" name="TextBox 7"/>
          <p:cNvSpPr txBox="1"/>
          <p:nvPr/>
        </p:nvSpPr>
        <p:spPr>
          <a:xfrm>
            <a:off x="502920" y="6245352"/>
            <a:ext cx="3576218" cy="320040"/>
          </a:xfrm>
          <a:prstGeom prst="rect">
            <a:avLst/>
          </a:prstGeom>
          <a:noFill/>
        </p:spPr>
        <p:txBody>
          <a:bodyPr wrap="square" lIns="0" tIns="0" rIns="0" bIns="0">
            <a:spAutoFit/>
          </a:bodyPr>
          <a:lstStyle/>
          <a:p>
            <a:pPr algn="ctr"/>
            <a:r>
              <a:rPr sz="1500" b="1" i="0">
                <a:solidFill>
                  <a:srgbClr val="FFFFFF"/>
                </a:solidFill>
                <a:latin typeface="Calibri"/>
              </a:rPr>
              <a:t>82,332 kayıt</a:t>
            </a:r>
          </a:p>
        </p:txBody>
      </p:sp>
      <p:sp>
        <p:nvSpPr>
          <p:cNvPr id="9" name="Rectangle 8"/>
          <p:cNvSpPr/>
          <p:nvPr/>
        </p:nvSpPr>
        <p:spPr>
          <a:xfrm>
            <a:off x="4262018" y="5989320"/>
            <a:ext cx="3667658" cy="640080"/>
          </a:xfrm>
          <a:prstGeom prst="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07738" y="6007608"/>
            <a:ext cx="3576218" cy="256032"/>
          </a:xfrm>
          <a:prstGeom prst="rect">
            <a:avLst/>
          </a:prstGeom>
          <a:noFill/>
        </p:spPr>
        <p:txBody>
          <a:bodyPr wrap="square" lIns="0" tIns="0" rIns="0" bIns="0">
            <a:spAutoFit/>
          </a:bodyPr>
          <a:lstStyle/>
          <a:p>
            <a:pPr algn="ctr"/>
            <a:r>
              <a:rPr sz="1000" b="0" i="0">
                <a:solidFill>
                  <a:srgbClr val="FFFFFF"/>
                </a:solidFill>
                <a:latin typeface="Calibri"/>
              </a:rPr>
              <a:t>Test Seti</a:t>
            </a:r>
          </a:p>
        </p:txBody>
      </p:sp>
      <p:sp>
        <p:nvSpPr>
          <p:cNvPr id="11" name="TextBox 10"/>
          <p:cNvSpPr txBox="1"/>
          <p:nvPr/>
        </p:nvSpPr>
        <p:spPr>
          <a:xfrm>
            <a:off x="4307738" y="6245352"/>
            <a:ext cx="3576218" cy="320040"/>
          </a:xfrm>
          <a:prstGeom prst="rect">
            <a:avLst/>
          </a:prstGeom>
          <a:noFill/>
        </p:spPr>
        <p:txBody>
          <a:bodyPr wrap="square" lIns="0" tIns="0" rIns="0" bIns="0">
            <a:spAutoFit/>
          </a:bodyPr>
          <a:lstStyle/>
          <a:p>
            <a:pPr algn="ctr"/>
            <a:r>
              <a:rPr sz="1500" b="1" i="0">
                <a:solidFill>
                  <a:srgbClr val="FFFFFF"/>
                </a:solidFill>
                <a:latin typeface="Calibri"/>
              </a:rPr>
              <a:t>175,341 kayıt</a:t>
            </a:r>
          </a:p>
        </p:txBody>
      </p:sp>
      <p:sp>
        <p:nvSpPr>
          <p:cNvPr id="12" name="Rectangle 11"/>
          <p:cNvSpPr/>
          <p:nvPr/>
        </p:nvSpPr>
        <p:spPr>
          <a:xfrm>
            <a:off x="8066836" y="5989320"/>
            <a:ext cx="3667658" cy="6400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12556" y="6007608"/>
            <a:ext cx="3576218" cy="256032"/>
          </a:xfrm>
          <a:prstGeom prst="rect">
            <a:avLst/>
          </a:prstGeom>
          <a:noFill/>
        </p:spPr>
        <p:txBody>
          <a:bodyPr wrap="square" lIns="0" tIns="0" rIns="0" bIns="0">
            <a:spAutoFit/>
          </a:bodyPr>
          <a:lstStyle/>
          <a:p>
            <a:pPr algn="ctr"/>
            <a:r>
              <a:rPr sz="1000" b="0" i="0">
                <a:solidFill>
                  <a:srgbClr val="FFFFFF"/>
                </a:solidFill>
                <a:latin typeface="Calibri"/>
              </a:rPr>
              <a:t>Saldırı Türleri</a:t>
            </a:r>
          </a:p>
        </p:txBody>
      </p:sp>
      <p:sp>
        <p:nvSpPr>
          <p:cNvPr id="14" name="TextBox 13"/>
          <p:cNvSpPr txBox="1"/>
          <p:nvPr/>
        </p:nvSpPr>
        <p:spPr>
          <a:xfrm>
            <a:off x="8112556" y="6245352"/>
            <a:ext cx="3576218" cy="320040"/>
          </a:xfrm>
          <a:prstGeom prst="rect">
            <a:avLst/>
          </a:prstGeom>
          <a:noFill/>
        </p:spPr>
        <p:txBody>
          <a:bodyPr wrap="square" lIns="0" tIns="0" rIns="0" bIns="0">
            <a:spAutoFit/>
          </a:bodyPr>
          <a:lstStyle/>
          <a:p>
            <a:pPr algn="ctr"/>
            <a:r>
              <a:rPr sz="1500" b="1" i="0">
                <a:solidFill>
                  <a:srgbClr val="FFFFFF"/>
                </a:solidFill>
                <a:latin typeface="Calibri"/>
              </a:rPr>
              <a:t>9 kategori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Veri Keşfi: Protokol Dağılımı ve Korelasyon</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6</a:t>
            </a:r>
          </a:p>
        </p:txBody>
      </p:sp>
      <p:sp>
        <p:nvSpPr>
          <p:cNvPr id="7" name="TextBox 6"/>
          <p:cNvSpPr txBox="1"/>
          <p:nvPr/>
        </p:nvSpPr>
        <p:spPr>
          <a:xfrm>
            <a:off x="457200" y="6510528"/>
            <a:ext cx="11277295" cy="292608"/>
          </a:xfrm>
          <a:prstGeom prst="rect">
            <a:avLst/>
          </a:prstGeom>
          <a:noFill/>
        </p:spPr>
        <p:txBody>
          <a:bodyPr wrap="square" lIns="0" tIns="0" rIns="0" bIns="0">
            <a:spAutoFit/>
          </a:bodyPr>
          <a:lstStyle/>
          <a:p>
            <a:pPr algn="ctr"/>
            <a:r>
              <a:rPr sz="1100" b="0" i="0">
                <a:solidFill>
                  <a:srgbClr val="556581"/>
                </a:solidFill>
                <a:latin typeface="Calibri"/>
              </a:rPr>
              <a:t>▸  UDP ve TCP protokolleri dominant  |  ct_state_ttl, sttl, rate özellikleri hedefle en güçlü korelasyona sahip</a:t>
            </a:r>
          </a:p>
        </p:txBody>
      </p:sp>
      <p:pic>
        <p:nvPicPr>
          <p:cNvPr id="9" name="Picture 8">
            <a:extLst>
              <a:ext uri="{FF2B5EF4-FFF2-40B4-BE49-F238E27FC236}">
                <a16:creationId xmlns:a16="http://schemas.microsoft.com/office/drawing/2014/main" id="{EB5297E9-208D-A723-E8A8-0FDE7D14448A}"/>
              </a:ext>
            </a:extLst>
          </p:cNvPr>
          <p:cNvPicPr>
            <a:picLocks noChangeAspect="1"/>
          </p:cNvPicPr>
          <p:nvPr/>
        </p:nvPicPr>
        <p:blipFill>
          <a:blip r:embed="rId3"/>
          <a:stretch>
            <a:fillRect/>
          </a:stretch>
        </p:blipFill>
        <p:spPr>
          <a:xfrm>
            <a:off x="5953726" y="876136"/>
            <a:ext cx="6047268" cy="5535495"/>
          </a:xfrm>
          <a:prstGeom prst="rect">
            <a:avLst/>
          </a:prstGeom>
        </p:spPr>
      </p:pic>
      <p:pic>
        <p:nvPicPr>
          <p:cNvPr id="11" name="Picture 10">
            <a:extLst>
              <a:ext uri="{FF2B5EF4-FFF2-40B4-BE49-F238E27FC236}">
                <a16:creationId xmlns:a16="http://schemas.microsoft.com/office/drawing/2014/main" id="{46803A2C-2A8D-0222-4253-81FE1EB13CA5}"/>
              </a:ext>
            </a:extLst>
          </p:cNvPr>
          <p:cNvPicPr>
            <a:picLocks noChangeAspect="1"/>
          </p:cNvPicPr>
          <p:nvPr/>
        </p:nvPicPr>
        <p:blipFill>
          <a:blip r:embed="rId4"/>
          <a:srcRect b="4276"/>
          <a:stretch>
            <a:fillRect/>
          </a:stretch>
        </p:blipFill>
        <p:spPr>
          <a:xfrm>
            <a:off x="1139692" y="3664250"/>
            <a:ext cx="4120675" cy="2796829"/>
          </a:xfrm>
          <a:prstGeom prst="rect">
            <a:avLst/>
          </a:prstGeom>
        </p:spPr>
      </p:pic>
      <p:pic>
        <p:nvPicPr>
          <p:cNvPr id="13" name="Picture 12">
            <a:extLst>
              <a:ext uri="{FF2B5EF4-FFF2-40B4-BE49-F238E27FC236}">
                <a16:creationId xmlns:a16="http://schemas.microsoft.com/office/drawing/2014/main" id="{B505C1A3-2F9B-D481-74EE-19AFC09CE091}"/>
              </a:ext>
            </a:extLst>
          </p:cNvPr>
          <p:cNvPicPr>
            <a:picLocks noChangeAspect="1"/>
          </p:cNvPicPr>
          <p:nvPr/>
        </p:nvPicPr>
        <p:blipFill>
          <a:blip r:embed="rId5"/>
          <a:srcRect t="-1768" b="1768"/>
          <a:stretch>
            <a:fillRect/>
          </a:stretch>
        </p:blipFill>
        <p:spPr>
          <a:xfrm>
            <a:off x="1090596" y="847054"/>
            <a:ext cx="4039863" cy="27968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11737871" y="7059168"/>
            <a:ext cx="411480" cy="274320"/>
          </a:xfrm>
          <a:prstGeom prst="rect">
            <a:avLst/>
          </a:prstGeom>
          <a:noFill/>
        </p:spPr>
        <p:txBody>
          <a:bodyPr wrap="square" lIns="0" tIns="0" rIns="0" bIns="0">
            <a:spAutoFit/>
          </a:bodyPr>
          <a:lstStyle/>
          <a:p>
            <a:pPr algn="r"/>
            <a:r>
              <a:rPr sz="1000" b="0" i="0">
                <a:solidFill>
                  <a:srgbClr val="556581"/>
                </a:solidFill>
                <a:latin typeface="Calibri"/>
              </a:rPr>
              <a:t>7</a:t>
            </a:r>
          </a:p>
        </p:txBody>
      </p:sp>
      <p:sp>
        <p:nvSpPr>
          <p:cNvPr id="5" name="Rectangle 4"/>
          <p:cNvSpPr/>
          <p:nvPr/>
        </p:nvSpPr>
        <p:spPr>
          <a:xfrm>
            <a:off x="506296" y="1417320"/>
            <a:ext cx="2560320" cy="80467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2016" y="1527047"/>
            <a:ext cx="2468879" cy="585216"/>
          </a:xfrm>
          <a:prstGeom prst="rect">
            <a:avLst/>
          </a:prstGeom>
          <a:noFill/>
        </p:spPr>
        <p:txBody>
          <a:bodyPr wrap="square" lIns="0" tIns="0" rIns="0" bIns="0">
            <a:spAutoFit/>
          </a:bodyPr>
          <a:lstStyle/>
          <a:p>
            <a:pPr algn="l"/>
            <a:r>
              <a:rPr sz="1300" b="1" i="0">
                <a:solidFill>
                  <a:srgbClr val="FFFFFF"/>
                </a:solidFill>
                <a:latin typeface="Calibri"/>
              </a:rPr>
              <a:t>1  VERİ YÜKLEME</a:t>
            </a:r>
          </a:p>
        </p:txBody>
      </p:sp>
      <p:sp>
        <p:nvSpPr>
          <p:cNvPr id="7" name="Rectangle 6"/>
          <p:cNvSpPr/>
          <p:nvPr/>
        </p:nvSpPr>
        <p:spPr>
          <a:xfrm>
            <a:off x="3066616" y="1417320"/>
            <a:ext cx="8716975" cy="804672"/>
          </a:xfrm>
          <a:prstGeom prst="rect">
            <a:avLst/>
          </a:prstGeom>
          <a:solidFill>
            <a:srgbClr val="E3F2FD"/>
          </a:solidFill>
          <a:ln w="127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3775" y="1508760"/>
            <a:ext cx="8488375" cy="621792"/>
          </a:xfrm>
          <a:prstGeom prst="rect">
            <a:avLst/>
          </a:prstGeom>
          <a:noFill/>
        </p:spPr>
        <p:txBody>
          <a:bodyPr wrap="square" lIns="0" tIns="0" rIns="0" bIns="0">
            <a:spAutoFit/>
          </a:bodyPr>
          <a:lstStyle/>
          <a:p>
            <a:pPr algn="l"/>
            <a:r>
              <a:rPr sz="1200" b="0" i="0">
                <a:solidFill>
                  <a:srgbClr val="1A237E"/>
                </a:solidFill>
                <a:latin typeface="Calibri"/>
              </a:rPr>
              <a:t>UNSW_NB15_training-set.csv  +  UNSW_NB15_testing-set.csv
82,332 eğitim | 175,341 test | 42 özellik</a:t>
            </a:r>
          </a:p>
        </p:txBody>
      </p:sp>
      <p:sp>
        <p:nvSpPr>
          <p:cNvPr id="9" name="TextBox 8"/>
          <p:cNvSpPr txBox="1"/>
          <p:nvPr/>
        </p:nvSpPr>
        <p:spPr>
          <a:xfrm>
            <a:off x="1649296" y="2221992"/>
            <a:ext cx="274320" cy="91440"/>
          </a:xfrm>
          <a:prstGeom prst="rect">
            <a:avLst/>
          </a:prstGeom>
          <a:noFill/>
        </p:spPr>
        <p:txBody>
          <a:bodyPr wrap="square" lIns="0" tIns="0" rIns="0" bIns="0">
            <a:spAutoFit/>
          </a:bodyPr>
          <a:lstStyle/>
          <a:p>
            <a:pPr algn="ctr"/>
            <a:r>
              <a:rPr sz="900" b="0" i="0">
                <a:solidFill>
                  <a:srgbClr val="1A237E"/>
                </a:solidFill>
                <a:latin typeface="Calibri"/>
              </a:rPr>
              <a:t>▼</a:t>
            </a:r>
          </a:p>
        </p:txBody>
      </p:sp>
      <p:sp>
        <p:nvSpPr>
          <p:cNvPr id="10" name="Rectangle 9"/>
          <p:cNvSpPr/>
          <p:nvPr/>
        </p:nvSpPr>
        <p:spPr>
          <a:xfrm>
            <a:off x="506296" y="2276856"/>
            <a:ext cx="2560320" cy="804672"/>
          </a:xfrm>
          <a:prstGeom prst="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2016" y="2386583"/>
            <a:ext cx="2468879" cy="585216"/>
          </a:xfrm>
          <a:prstGeom prst="rect">
            <a:avLst/>
          </a:prstGeom>
          <a:noFill/>
        </p:spPr>
        <p:txBody>
          <a:bodyPr wrap="square" lIns="0" tIns="0" rIns="0" bIns="0">
            <a:spAutoFit/>
          </a:bodyPr>
          <a:lstStyle/>
          <a:p>
            <a:pPr algn="l"/>
            <a:r>
              <a:rPr sz="1300" b="1" i="0">
                <a:solidFill>
                  <a:srgbClr val="FFFFFF"/>
                </a:solidFill>
                <a:latin typeface="Calibri"/>
              </a:rPr>
              <a:t>2  ÖN İŞLEME</a:t>
            </a:r>
          </a:p>
        </p:txBody>
      </p:sp>
      <p:sp>
        <p:nvSpPr>
          <p:cNvPr id="12" name="Rectangle 11"/>
          <p:cNvSpPr/>
          <p:nvPr/>
        </p:nvSpPr>
        <p:spPr>
          <a:xfrm>
            <a:off x="3066616" y="2276856"/>
            <a:ext cx="8716975" cy="804672"/>
          </a:xfrm>
          <a:prstGeom prst="rect">
            <a:avLst/>
          </a:prstGeom>
          <a:solidFill>
            <a:srgbClr val="E3F2FD"/>
          </a:solidFill>
          <a:ln w="12700">
            <a:solidFill>
              <a:srgbClr val="2835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03775" y="2368296"/>
            <a:ext cx="8488375" cy="621792"/>
          </a:xfrm>
          <a:prstGeom prst="rect">
            <a:avLst/>
          </a:prstGeom>
          <a:noFill/>
        </p:spPr>
        <p:txBody>
          <a:bodyPr wrap="square" lIns="0" tIns="0" rIns="0" bIns="0">
            <a:spAutoFit/>
          </a:bodyPr>
          <a:lstStyle/>
          <a:p>
            <a:pPr algn="l"/>
            <a:r>
              <a:rPr sz="1200" b="0" i="0">
                <a:solidFill>
                  <a:srgbClr val="1A237E"/>
                </a:solidFill>
                <a:latin typeface="Calibri"/>
              </a:rPr>
              <a:t>Label Encoding (proto, service, state)  •  StandardScaler
Eksik değer → medyan ile doldurma</a:t>
            </a:r>
          </a:p>
        </p:txBody>
      </p:sp>
      <p:sp>
        <p:nvSpPr>
          <p:cNvPr id="14" name="TextBox 13"/>
          <p:cNvSpPr txBox="1"/>
          <p:nvPr/>
        </p:nvSpPr>
        <p:spPr>
          <a:xfrm>
            <a:off x="1649296" y="3081528"/>
            <a:ext cx="274320" cy="91440"/>
          </a:xfrm>
          <a:prstGeom prst="rect">
            <a:avLst/>
          </a:prstGeom>
          <a:noFill/>
        </p:spPr>
        <p:txBody>
          <a:bodyPr wrap="square" lIns="0" tIns="0" rIns="0" bIns="0">
            <a:spAutoFit/>
          </a:bodyPr>
          <a:lstStyle/>
          <a:p>
            <a:pPr algn="ctr"/>
            <a:r>
              <a:rPr sz="900" b="0" i="0">
                <a:solidFill>
                  <a:srgbClr val="283593"/>
                </a:solidFill>
                <a:latin typeface="Calibri"/>
              </a:rPr>
              <a:t>▼</a:t>
            </a:r>
          </a:p>
        </p:txBody>
      </p:sp>
      <p:sp>
        <p:nvSpPr>
          <p:cNvPr id="15" name="Rectangle 14"/>
          <p:cNvSpPr/>
          <p:nvPr/>
        </p:nvSpPr>
        <p:spPr>
          <a:xfrm>
            <a:off x="506296" y="3136392"/>
            <a:ext cx="2560320" cy="8046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2016" y="3246120"/>
            <a:ext cx="2468879" cy="585216"/>
          </a:xfrm>
          <a:prstGeom prst="rect">
            <a:avLst/>
          </a:prstGeom>
          <a:noFill/>
        </p:spPr>
        <p:txBody>
          <a:bodyPr wrap="square" lIns="0" tIns="0" rIns="0" bIns="0">
            <a:spAutoFit/>
          </a:bodyPr>
          <a:lstStyle/>
          <a:p>
            <a:pPr algn="l"/>
            <a:r>
              <a:rPr sz="1300" b="1" i="0">
                <a:solidFill>
                  <a:srgbClr val="FFFFFF"/>
                </a:solidFill>
                <a:latin typeface="Calibri"/>
              </a:rPr>
              <a:t>3  MODEL EĞİTİMİ</a:t>
            </a:r>
          </a:p>
        </p:txBody>
      </p:sp>
      <p:sp>
        <p:nvSpPr>
          <p:cNvPr id="17" name="Rectangle 16"/>
          <p:cNvSpPr/>
          <p:nvPr/>
        </p:nvSpPr>
        <p:spPr>
          <a:xfrm>
            <a:off x="3066616" y="3136392"/>
            <a:ext cx="8716975" cy="804672"/>
          </a:xfrm>
          <a:prstGeom prst="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3775" y="3227832"/>
            <a:ext cx="8488375" cy="621792"/>
          </a:xfrm>
          <a:prstGeom prst="rect">
            <a:avLst/>
          </a:prstGeom>
          <a:noFill/>
        </p:spPr>
        <p:txBody>
          <a:bodyPr wrap="square" lIns="0" tIns="0" rIns="0" bIns="0">
            <a:spAutoFit/>
          </a:bodyPr>
          <a:lstStyle/>
          <a:p>
            <a:pPr algn="l"/>
            <a:r>
              <a:rPr sz="1200" b="0" i="0">
                <a:solidFill>
                  <a:srgbClr val="1A237E"/>
                </a:solidFill>
                <a:latin typeface="Calibri"/>
              </a:rPr>
              <a:t>Random Forest: 100 ağaç, max_depth=20
Sınıf ağırlıklandırma: class_weight='balanced'</a:t>
            </a:r>
          </a:p>
        </p:txBody>
      </p:sp>
      <p:sp>
        <p:nvSpPr>
          <p:cNvPr id="19" name="TextBox 18"/>
          <p:cNvSpPr txBox="1"/>
          <p:nvPr/>
        </p:nvSpPr>
        <p:spPr>
          <a:xfrm>
            <a:off x="1649296" y="3941064"/>
            <a:ext cx="274320" cy="91440"/>
          </a:xfrm>
          <a:prstGeom prst="rect">
            <a:avLst/>
          </a:prstGeom>
          <a:noFill/>
        </p:spPr>
        <p:txBody>
          <a:bodyPr wrap="square" lIns="0" tIns="0" rIns="0" bIns="0">
            <a:spAutoFit/>
          </a:bodyPr>
          <a:lstStyle/>
          <a:p>
            <a:pPr algn="ctr"/>
            <a:r>
              <a:rPr sz="900" b="0" i="0">
                <a:solidFill>
                  <a:srgbClr val="1565C0"/>
                </a:solidFill>
                <a:latin typeface="Calibri"/>
              </a:rPr>
              <a:t>▼</a:t>
            </a:r>
          </a:p>
        </p:txBody>
      </p:sp>
      <p:sp>
        <p:nvSpPr>
          <p:cNvPr id="20" name="Rectangle 19"/>
          <p:cNvSpPr/>
          <p:nvPr/>
        </p:nvSpPr>
        <p:spPr>
          <a:xfrm>
            <a:off x="506296" y="3995927"/>
            <a:ext cx="2560320" cy="804672"/>
          </a:xfrm>
          <a:prstGeom prst="rect">
            <a:avLst/>
          </a:prstGeom>
          <a:solidFill>
            <a:srgbClr val="1A6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2016" y="4105655"/>
            <a:ext cx="2468879" cy="585216"/>
          </a:xfrm>
          <a:prstGeom prst="rect">
            <a:avLst/>
          </a:prstGeom>
          <a:noFill/>
        </p:spPr>
        <p:txBody>
          <a:bodyPr wrap="square" lIns="0" tIns="0" rIns="0" bIns="0">
            <a:spAutoFit/>
          </a:bodyPr>
          <a:lstStyle/>
          <a:p>
            <a:pPr algn="l"/>
            <a:r>
              <a:rPr sz="1300" b="1" i="0">
                <a:solidFill>
                  <a:srgbClr val="FFFFFF"/>
                </a:solidFill>
                <a:latin typeface="Calibri"/>
              </a:rPr>
              <a:t>4  DEĞERLENDİRME</a:t>
            </a:r>
          </a:p>
        </p:txBody>
      </p:sp>
      <p:sp>
        <p:nvSpPr>
          <p:cNvPr id="22" name="Rectangle 21"/>
          <p:cNvSpPr/>
          <p:nvPr/>
        </p:nvSpPr>
        <p:spPr>
          <a:xfrm>
            <a:off x="3066616" y="3995927"/>
            <a:ext cx="8716975" cy="804672"/>
          </a:xfrm>
          <a:prstGeom prst="rect">
            <a:avLst/>
          </a:prstGeom>
          <a:solidFill>
            <a:srgbClr val="E3F2FD"/>
          </a:solidFill>
          <a:ln w="12700">
            <a:solidFill>
              <a:srgbClr val="1A6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3775" y="4087367"/>
            <a:ext cx="8488375" cy="621792"/>
          </a:xfrm>
          <a:prstGeom prst="rect">
            <a:avLst/>
          </a:prstGeom>
          <a:noFill/>
        </p:spPr>
        <p:txBody>
          <a:bodyPr wrap="square" lIns="0" tIns="0" rIns="0" bIns="0">
            <a:spAutoFit/>
          </a:bodyPr>
          <a:lstStyle/>
          <a:p>
            <a:pPr algn="l"/>
            <a:r>
              <a:rPr sz="1200" b="0" i="0">
                <a:solidFill>
                  <a:srgbClr val="1A237E"/>
                </a:solidFill>
                <a:latin typeface="Calibri"/>
              </a:rPr>
              <a:t>Accuracy, F1-Score, ROC-AUC
Confusion Matrix  •  Feature Importance</a:t>
            </a:r>
          </a:p>
        </p:txBody>
      </p:sp>
      <p:sp>
        <p:nvSpPr>
          <p:cNvPr id="24" name="TextBox 23"/>
          <p:cNvSpPr txBox="1"/>
          <p:nvPr/>
        </p:nvSpPr>
        <p:spPr>
          <a:xfrm>
            <a:off x="1649296" y="4800599"/>
            <a:ext cx="274320" cy="91440"/>
          </a:xfrm>
          <a:prstGeom prst="rect">
            <a:avLst/>
          </a:prstGeom>
          <a:noFill/>
        </p:spPr>
        <p:txBody>
          <a:bodyPr wrap="square" lIns="0" tIns="0" rIns="0" bIns="0">
            <a:spAutoFit/>
          </a:bodyPr>
          <a:lstStyle/>
          <a:p>
            <a:pPr algn="ctr"/>
            <a:r>
              <a:rPr sz="900" b="0" i="0">
                <a:solidFill>
                  <a:srgbClr val="1A6D37"/>
                </a:solidFill>
                <a:latin typeface="Calibri"/>
              </a:rPr>
              <a:t>▼</a:t>
            </a:r>
          </a:p>
        </p:txBody>
      </p:sp>
      <p:sp>
        <p:nvSpPr>
          <p:cNvPr id="25" name="Rectangle 24"/>
          <p:cNvSpPr/>
          <p:nvPr/>
        </p:nvSpPr>
        <p:spPr>
          <a:xfrm>
            <a:off x="506296" y="4855464"/>
            <a:ext cx="2560320" cy="804672"/>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2016" y="4965192"/>
            <a:ext cx="2468879" cy="585216"/>
          </a:xfrm>
          <a:prstGeom prst="rect">
            <a:avLst/>
          </a:prstGeom>
          <a:noFill/>
        </p:spPr>
        <p:txBody>
          <a:bodyPr wrap="square" lIns="0" tIns="0" rIns="0" bIns="0">
            <a:spAutoFit/>
          </a:bodyPr>
          <a:lstStyle/>
          <a:p>
            <a:pPr algn="l"/>
            <a:r>
              <a:rPr sz="1300" b="1" i="0">
                <a:solidFill>
                  <a:srgbClr val="FFFFFF"/>
                </a:solidFill>
                <a:latin typeface="Calibri"/>
              </a:rPr>
              <a:t>5  ETİK ANALİZ</a:t>
            </a:r>
          </a:p>
        </p:txBody>
      </p:sp>
      <p:sp>
        <p:nvSpPr>
          <p:cNvPr id="27" name="Rectangle 26"/>
          <p:cNvSpPr/>
          <p:nvPr/>
        </p:nvSpPr>
        <p:spPr>
          <a:xfrm>
            <a:off x="3066616" y="4855464"/>
            <a:ext cx="8716975" cy="804672"/>
          </a:xfrm>
          <a:prstGeom prst="rect">
            <a:avLst/>
          </a:prstGeom>
          <a:solidFill>
            <a:srgbClr val="E3F2FD"/>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3775" y="4946904"/>
            <a:ext cx="8488375" cy="621792"/>
          </a:xfrm>
          <a:prstGeom prst="rect">
            <a:avLst/>
          </a:prstGeom>
          <a:noFill/>
        </p:spPr>
        <p:txBody>
          <a:bodyPr wrap="square" lIns="0" tIns="0" rIns="0" bIns="0">
            <a:spAutoFit/>
          </a:bodyPr>
          <a:lstStyle/>
          <a:p>
            <a:pPr algn="l"/>
            <a:r>
              <a:rPr sz="1200" b="0" i="0">
                <a:solidFill>
                  <a:srgbClr val="1A237E"/>
                </a:solidFill>
                <a:latin typeface="Calibri"/>
              </a:rPr>
              <a:t>FP/FN risk değerlendirmesi
GDPR / Mahremiyet ve veri minimizasyonu incelemesi</a:t>
            </a:r>
          </a:p>
        </p:txBody>
      </p:sp>
      <p:sp>
        <p:nvSpPr>
          <p:cNvPr id="29" name="Rectangle 28">
            <a:extLst>
              <a:ext uri="{FF2B5EF4-FFF2-40B4-BE49-F238E27FC236}">
                <a16:creationId xmlns:a16="http://schemas.microsoft.com/office/drawing/2014/main" id="{3E63E23E-796E-A83F-BE98-90D8F8520684}"/>
              </a:ext>
            </a:extLst>
          </p:cNvPr>
          <p:cNvSpPr/>
          <p:nvPr/>
        </p:nvSpPr>
        <p:spPr>
          <a:xfrm>
            <a:off x="305" y="-676"/>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FE616E97-FC74-CC51-EE3C-53E3DB62A451}"/>
              </a:ext>
            </a:extLst>
          </p:cNvPr>
          <p:cNvSpPr txBox="1"/>
          <p:nvPr/>
        </p:nvSpPr>
        <p:spPr>
          <a:xfrm>
            <a:off x="274625" y="72476"/>
            <a:ext cx="11643055" cy="630936"/>
          </a:xfrm>
          <a:prstGeom prst="rect">
            <a:avLst/>
          </a:prstGeom>
          <a:noFill/>
        </p:spPr>
        <p:txBody>
          <a:bodyPr wrap="square" lIns="0" tIns="0" rIns="0" bIns="0">
            <a:spAutoFit/>
          </a:bodyPr>
          <a:lstStyle/>
          <a:p>
            <a:pPr algn="l"/>
            <a:r>
              <a:rPr sz="2600" b="1" i="0">
                <a:solidFill>
                  <a:srgbClr val="FFFFFF"/>
                </a:solidFill>
                <a:latin typeface="Calibri"/>
              </a:rPr>
              <a:t>Metodoloji: Analiz Boru Hattı</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Model Sonuçları: Performans Metrikleri</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8</a:t>
            </a:r>
          </a:p>
        </p:txBody>
      </p:sp>
      <p:sp>
        <p:nvSpPr>
          <p:cNvPr id="5" name="Rectangle 4"/>
          <p:cNvSpPr/>
          <p:nvPr/>
        </p:nvSpPr>
        <p:spPr>
          <a:xfrm>
            <a:off x="457200" y="914400"/>
            <a:ext cx="2663875" cy="1417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024128"/>
            <a:ext cx="2517571" cy="538581"/>
          </a:xfrm>
          <a:prstGeom prst="rect">
            <a:avLst/>
          </a:prstGeom>
          <a:noFill/>
        </p:spPr>
        <p:txBody>
          <a:bodyPr wrap="square" lIns="0" tIns="0" rIns="0" bIns="0">
            <a:spAutoFit/>
          </a:bodyPr>
          <a:lstStyle/>
          <a:p>
            <a:pPr algn="ctr"/>
            <a:r>
              <a:rPr sz="1200" b="0" i="0">
                <a:solidFill>
                  <a:srgbClr val="FFFFFF"/>
                </a:solidFill>
                <a:latin typeface="Calibri"/>
              </a:rPr>
              <a:t>DOĞRULUK</a:t>
            </a:r>
          </a:p>
        </p:txBody>
      </p:sp>
      <p:sp>
        <p:nvSpPr>
          <p:cNvPr id="7" name="TextBox 6"/>
          <p:cNvSpPr txBox="1"/>
          <p:nvPr/>
        </p:nvSpPr>
        <p:spPr>
          <a:xfrm>
            <a:off x="530352" y="1509674"/>
            <a:ext cx="2517571" cy="708660"/>
          </a:xfrm>
          <a:prstGeom prst="rect">
            <a:avLst/>
          </a:prstGeom>
          <a:noFill/>
        </p:spPr>
        <p:txBody>
          <a:bodyPr wrap="square" lIns="0" tIns="0" rIns="0" bIns="0">
            <a:spAutoFit/>
          </a:bodyPr>
          <a:lstStyle/>
          <a:p>
            <a:pPr algn="ctr"/>
            <a:r>
              <a:rPr sz="2400" b="1" i="0">
                <a:solidFill>
                  <a:srgbClr val="FFFFFF"/>
                </a:solidFill>
                <a:latin typeface="Calibri"/>
              </a:rPr>
              <a:t>%90.13</a:t>
            </a:r>
          </a:p>
        </p:txBody>
      </p:sp>
      <p:sp>
        <p:nvSpPr>
          <p:cNvPr id="8" name="Rectangle 7"/>
          <p:cNvSpPr/>
          <p:nvPr/>
        </p:nvSpPr>
        <p:spPr>
          <a:xfrm>
            <a:off x="3285667" y="914400"/>
            <a:ext cx="2663875" cy="1417320"/>
          </a:xfrm>
          <a:prstGeom prst="rect">
            <a:avLst/>
          </a:prstGeom>
          <a:solidFill>
            <a:srgbClr val="1B6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58819" y="1024128"/>
            <a:ext cx="2517571" cy="538581"/>
          </a:xfrm>
          <a:prstGeom prst="rect">
            <a:avLst/>
          </a:prstGeom>
          <a:noFill/>
        </p:spPr>
        <p:txBody>
          <a:bodyPr wrap="square" lIns="0" tIns="0" rIns="0" bIns="0">
            <a:spAutoFit/>
          </a:bodyPr>
          <a:lstStyle/>
          <a:p>
            <a:pPr algn="ctr"/>
            <a:r>
              <a:rPr sz="1200" b="0" i="0">
                <a:solidFill>
                  <a:srgbClr val="FFFFFF"/>
                </a:solidFill>
                <a:latin typeface="Calibri"/>
              </a:rPr>
              <a:t>F1 SKORU</a:t>
            </a:r>
          </a:p>
        </p:txBody>
      </p:sp>
      <p:sp>
        <p:nvSpPr>
          <p:cNvPr id="10" name="TextBox 9"/>
          <p:cNvSpPr txBox="1"/>
          <p:nvPr/>
        </p:nvSpPr>
        <p:spPr>
          <a:xfrm>
            <a:off x="3358819" y="1509674"/>
            <a:ext cx="2517571" cy="708660"/>
          </a:xfrm>
          <a:prstGeom prst="rect">
            <a:avLst/>
          </a:prstGeom>
          <a:noFill/>
        </p:spPr>
        <p:txBody>
          <a:bodyPr wrap="square" lIns="0" tIns="0" rIns="0" bIns="0">
            <a:spAutoFit/>
          </a:bodyPr>
          <a:lstStyle/>
          <a:p>
            <a:pPr algn="ctr"/>
            <a:r>
              <a:rPr sz="2400" b="1" i="0">
                <a:solidFill>
                  <a:srgbClr val="FFFFFF"/>
                </a:solidFill>
                <a:latin typeface="Calibri"/>
              </a:rPr>
              <a:t>0.9225</a:t>
            </a:r>
          </a:p>
        </p:txBody>
      </p:sp>
      <p:sp>
        <p:nvSpPr>
          <p:cNvPr id="11" name="Rectangle 10"/>
          <p:cNvSpPr/>
          <p:nvPr/>
        </p:nvSpPr>
        <p:spPr>
          <a:xfrm>
            <a:off x="6114135" y="914400"/>
            <a:ext cx="2663875" cy="14173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87287" y="1024128"/>
            <a:ext cx="2517571" cy="538581"/>
          </a:xfrm>
          <a:prstGeom prst="rect">
            <a:avLst/>
          </a:prstGeom>
          <a:noFill/>
        </p:spPr>
        <p:txBody>
          <a:bodyPr wrap="square" lIns="0" tIns="0" rIns="0" bIns="0">
            <a:spAutoFit/>
          </a:bodyPr>
          <a:lstStyle/>
          <a:p>
            <a:pPr algn="ctr"/>
            <a:r>
              <a:rPr sz="1200" b="0" i="0">
                <a:solidFill>
                  <a:srgbClr val="FFFFFF"/>
                </a:solidFill>
                <a:latin typeface="Calibri"/>
              </a:rPr>
              <a:t>ROC-AUC</a:t>
            </a:r>
          </a:p>
        </p:txBody>
      </p:sp>
      <p:sp>
        <p:nvSpPr>
          <p:cNvPr id="13" name="TextBox 12"/>
          <p:cNvSpPr txBox="1"/>
          <p:nvPr/>
        </p:nvSpPr>
        <p:spPr>
          <a:xfrm>
            <a:off x="6187287" y="1509674"/>
            <a:ext cx="2517571" cy="708660"/>
          </a:xfrm>
          <a:prstGeom prst="rect">
            <a:avLst/>
          </a:prstGeom>
          <a:noFill/>
        </p:spPr>
        <p:txBody>
          <a:bodyPr wrap="square" lIns="0" tIns="0" rIns="0" bIns="0">
            <a:spAutoFit/>
          </a:bodyPr>
          <a:lstStyle/>
          <a:p>
            <a:pPr algn="ctr"/>
            <a:r>
              <a:rPr sz="2400" b="1" i="0">
                <a:solidFill>
                  <a:srgbClr val="FFFFFF"/>
                </a:solidFill>
                <a:latin typeface="Calibri"/>
              </a:rPr>
              <a:t>0.9864</a:t>
            </a:r>
          </a:p>
        </p:txBody>
      </p:sp>
      <p:sp>
        <p:nvSpPr>
          <p:cNvPr id="14" name="Rectangle 13"/>
          <p:cNvSpPr/>
          <p:nvPr/>
        </p:nvSpPr>
        <p:spPr>
          <a:xfrm>
            <a:off x="8942603" y="914400"/>
            <a:ext cx="2663875" cy="1417320"/>
          </a:xfrm>
          <a:prstGeom prst="rect">
            <a:avLst/>
          </a:prstGeom>
          <a:solidFill>
            <a:srgbClr val="BF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15755" y="1024128"/>
            <a:ext cx="2517571" cy="538581"/>
          </a:xfrm>
          <a:prstGeom prst="rect">
            <a:avLst/>
          </a:prstGeom>
          <a:noFill/>
        </p:spPr>
        <p:txBody>
          <a:bodyPr wrap="square" lIns="0" tIns="0" rIns="0" bIns="0">
            <a:spAutoFit/>
          </a:bodyPr>
          <a:lstStyle/>
          <a:p>
            <a:pPr algn="ctr"/>
            <a:r>
              <a:rPr sz="1200" b="0" i="0">
                <a:solidFill>
                  <a:srgbClr val="FFFFFF"/>
                </a:solidFill>
                <a:latin typeface="Calibri"/>
              </a:rPr>
              <a:t>PRECISION (Saldırı)</a:t>
            </a:r>
          </a:p>
        </p:txBody>
      </p:sp>
      <p:sp>
        <p:nvSpPr>
          <p:cNvPr id="16" name="TextBox 15"/>
          <p:cNvSpPr txBox="1"/>
          <p:nvPr/>
        </p:nvSpPr>
        <p:spPr>
          <a:xfrm>
            <a:off x="9015755" y="1509674"/>
            <a:ext cx="2517571" cy="708660"/>
          </a:xfrm>
          <a:prstGeom prst="rect">
            <a:avLst/>
          </a:prstGeom>
          <a:noFill/>
        </p:spPr>
        <p:txBody>
          <a:bodyPr wrap="square" lIns="0" tIns="0" rIns="0" bIns="0">
            <a:spAutoFit/>
          </a:bodyPr>
          <a:lstStyle/>
          <a:p>
            <a:pPr algn="ctr"/>
            <a:r>
              <a:rPr sz="2400" b="1" i="0">
                <a:solidFill>
                  <a:srgbClr val="FFFFFF"/>
                </a:solidFill>
                <a:latin typeface="Calibri"/>
              </a:rPr>
              <a:t>% 99.0</a:t>
            </a:r>
          </a:p>
        </p:txBody>
      </p:sp>
      <p:sp>
        <p:nvSpPr>
          <p:cNvPr id="17" name="TextBox 16"/>
          <p:cNvSpPr txBox="1"/>
          <p:nvPr/>
        </p:nvSpPr>
        <p:spPr>
          <a:xfrm>
            <a:off x="457200" y="2496312"/>
            <a:ext cx="11277295" cy="347472"/>
          </a:xfrm>
          <a:prstGeom prst="rect">
            <a:avLst/>
          </a:prstGeom>
          <a:noFill/>
        </p:spPr>
        <p:txBody>
          <a:bodyPr wrap="square" lIns="0" tIns="0" rIns="0" bIns="0">
            <a:spAutoFit/>
          </a:bodyPr>
          <a:lstStyle/>
          <a:p>
            <a:pPr algn="l"/>
            <a:r>
              <a:rPr sz="1400" b="1" i="0">
                <a:solidFill>
                  <a:srgbClr val="1A237E"/>
                </a:solidFill>
                <a:latin typeface="Calibri"/>
              </a:rPr>
              <a:t>Sınıflandırma Raporu (Test Seti: 175,341 kayıt)</a:t>
            </a:r>
          </a:p>
        </p:txBody>
      </p:sp>
      <p:graphicFrame>
        <p:nvGraphicFramePr>
          <p:cNvPr id="18" name="Table 17"/>
          <p:cNvGraphicFramePr>
            <a:graphicFrameLocks noGrp="1"/>
          </p:cNvGraphicFramePr>
          <p:nvPr/>
        </p:nvGraphicFramePr>
        <p:xfrm>
          <a:off x="457200" y="2862072"/>
          <a:ext cx="11277295" cy="269748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539496">
                <a:tc>
                  <a:txBody>
                    <a:bodyPr/>
                    <a:lstStyle/>
                    <a:p>
                      <a:pPr algn="l"/>
                      <a:r>
                        <a:rPr sz="1200" b="1">
                          <a:solidFill>
                            <a:srgbClr val="FFFFFF"/>
                          </a:solidFill>
                        </a:rPr>
                        <a:t>Sınıf</a:t>
                      </a:r>
                    </a:p>
                  </a:txBody>
                  <a:tcPr>
                    <a:solidFill>
                      <a:srgbClr val="1A237E"/>
                    </a:solidFill>
                  </a:tcPr>
                </a:tc>
                <a:tc>
                  <a:txBody>
                    <a:bodyPr/>
                    <a:lstStyle/>
                    <a:p>
                      <a:pPr algn="ctr"/>
                      <a:r>
                        <a:rPr sz="1200" b="1">
                          <a:solidFill>
                            <a:srgbClr val="FFFFFF"/>
                          </a:solidFill>
                        </a:rPr>
                        <a:t>Precision</a:t>
                      </a:r>
                    </a:p>
                  </a:txBody>
                  <a:tcPr>
                    <a:solidFill>
                      <a:srgbClr val="1A237E"/>
                    </a:solidFill>
                  </a:tcPr>
                </a:tc>
                <a:tc>
                  <a:txBody>
                    <a:bodyPr/>
                    <a:lstStyle/>
                    <a:p>
                      <a:pPr algn="ctr"/>
                      <a:r>
                        <a:rPr sz="1200" b="1">
                          <a:solidFill>
                            <a:srgbClr val="FFFFFF"/>
                          </a:solidFill>
                        </a:rPr>
                        <a:t>Recall</a:t>
                      </a:r>
                    </a:p>
                  </a:txBody>
                  <a:tcPr>
                    <a:solidFill>
                      <a:srgbClr val="1A237E"/>
                    </a:solidFill>
                  </a:tcPr>
                </a:tc>
                <a:tc>
                  <a:txBody>
                    <a:bodyPr/>
                    <a:lstStyle/>
                    <a:p>
                      <a:pPr algn="ctr"/>
                      <a:r>
                        <a:rPr sz="1200" b="1">
                          <a:solidFill>
                            <a:srgbClr val="FFFFFF"/>
                          </a:solidFill>
                        </a:rPr>
                        <a:t>F1-Score</a:t>
                      </a:r>
                    </a:p>
                  </a:txBody>
                  <a:tcPr>
                    <a:solidFill>
                      <a:srgbClr val="1A237E"/>
                    </a:solidFill>
                  </a:tcPr>
                </a:tc>
                <a:tc>
                  <a:txBody>
                    <a:bodyPr/>
                    <a:lstStyle/>
                    <a:p>
                      <a:pPr algn="ctr"/>
                      <a:r>
                        <a:rPr sz="1200" b="1">
                          <a:solidFill>
                            <a:srgbClr val="FFFFFF"/>
                          </a:solidFill>
                        </a:rPr>
                        <a:t>Support</a:t>
                      </a:r>
                    </a:p>
                  </a:txBody>
                  <a:tcPr>
                    <a:solidFill>
                      <a:srgbClr val="1A237E"/>
                    </a:solidFill>
                  </a:tcPr>
                </a:tc>
                <a:extLst>
                  <a:ext uri="{0D108BD9-81ED-4DB2-BD59-A6C34878D82A}">
                    <a16:rowId xmlns:a16="http://schemas.microsoft.com/office/drawing/2014/main" val="10000"/>
                  </a:ext>
                </a:extLst>
              </a:tr>
              <a:tr h="539496">
                <a:tc>
                  <a:txBody>
                    <a:bodyPr/>
                    <a:lstStyle/>
                    <a:p>
                      <a:pPr algn="l"/>
                      <a:r>
                        <a:rPr sz="1100">
                          <a:solidFill>
                            <a:srgbClr val="1A237E"/>
                          </a:solidFill>
                        </a:rPr>
                        <a:t>Normal</a:t>
                      </a:r>
                    </a:p>
                  </a:txBody>
                  <a:tcPr>
                    <a:solidFill>
                      <a:srgbClr val="FFFFFF"/>
                    </a:solidFill>
                  </a:tcPr>
                </a:tc>
                <a:tc>
                  <a:txBody>
                    <a:bodyPr/>
                    <a:lstStyle/>
                    <a:p>
                      <a:pPr algn="ctr"/>
                      <a:r>
                        <a:rPr sz="1100">
                          <a:solidFill>
                            <a:srgbClr val="1A237E"/>
                          </a:solidFill>
                        </a:rPr>
                        <a:t>0.77</a:t>
                      </a:r>
                    </a:p>
                  </a:txBody>
                  <a:tcPr>
                    <a:solidFill>
                      <a:srgbClr val="FFFFFF"/>
                    </a:solidFill>
                  </a:tcPr>
                </a:tc>
                <a:tc>
                  <a:txBody>
                    <a:bodyPr/>
                    <a:lstStyle/>
                    <a:p>
                      <a:pPr algn="ctr"/>
                      <a:r>
                        <a:rPr sz="1100">
                          <a:solidFill>
                            <a:srgbClr val="1A237E"/>
                          </a:solidFill>
                        </a:rPr>
                        <a:t>0.98</a:t>
                      </a:r>
                    </a:p>
                  </a:txBody>
                  <a:tcPr>
                    <a:solidFill>
                      <a:srgbClr val="FFFFFF"/>
                    </a:solidFill>
                  </a:tcPr>
                </a:tc>
                <a:tc>
                  <a:txBody>
                    <a:bodyPr/>
                    <a:lstStyle/>
                    <a:p>
                      <a:pPr algn="ctr"/>
                      <a:r>
                        <a:rPr sz="1100">
                          <a:solidFill>
                            <a:srgbClr val="1A237E"/>
                          </a:solidFill>
                        </a:rPr>
                        <a:t>0.86</a:t>
                      </a:r>
                    </a:p>
                  </a:txBody>
                  <a:tcPr>
                    <a:solidFill>
                      <a:srgbClr val="FFFFFF"/>
                    </a:solidFill>
                  </a:tcPr>
                </a:tc>
                <a:tc>
                  <a:txBody>
                    <a:bodyPr/>
                    <a:lstStyle/>
                    <a:p>
                      <a:pPr algn="ctr"/>
                      <a:r>
                        <a:rPr sz="1100">
                          <a:solidFill>
                            <a:srgbClr val="1A237E"/>
                          </a:solidFill>
                        </a:rPr>
                        <a:t>56,000</a:t>
                      </a:r>
                    </a:p>
                  </a:txBody>
                  <a:tcPr>
                    <a:solidFill>
                      <a:srgbClr val="FFFFFF"/>
                    </a:solidFill>
                  </a:tcPr>
                </a:tc>
                <a:extLst>
                  <a:ext uri="{0D108BD9-81ED-4DB2-BD59-A6C34878D82A}">
                    <a16:rowId xmlns:a16="http://schemas.microsoft.com/office/drawing/2014/main" val="10001"/>
                  </a:ext>
                </a:extLst>
              </a:tr>
              <a:tr h="539496">
                <a:tc>
                  <a:txBody>
                    <a:bodyPr/>
                    <a:lstStyle/>
                    <a:p>
                      <a:pPr algn="l"/>
                      <a:r>
                        <a:rPr sz="1100">
                          <a:solidFill>
                            <a:srgbClr val="1A237E"/>
                          </a:solidFill>
                        </a:rPr>
                        <a:t>Saldırı</a:t>
                      </a:r>
                    </a:p>
                  </a:txBody>
                  <a:tcPr>
                    <a:solidFill>
                      <a:srgbClr val="E3F2FD"/>
                    </a:solidFill>
                  </a:tcPr>
                </a:tc>
                <a:tc>
                  <a:txBody>
                    <a:bodyPr/>
                    <a:lstStyle/>
                    <a:p>
                      <a:pPr algn="ctr"/>
                      <a:r>
                        <a:rPr sz="1100">
                          <a:solidFill>
                            <a:srgbClr val="1A237E"/>
                          </a:solidFill>
                        </a:rPr>
                        <a:t>0.99</a:t>
                      </a:r>
                    </a:p>
                  </a:txBody>
                  <a:tcPr>
                    <a:solidFill>
                      <a:srgbClr val="E3F2FD"/>
                    </a:solidFill>
                  </a:tcPr>
                </a:tc>
                <a:tc>
                  <a:txBody>
                    <a:bodyPr/>
                    <a:lstStyle/>
                    <a:p>
                      <a:pPr algn="ctr"/>
                      <a:r>
                        <a:rPr sz="1100">
                          <a:solidFill>
                            <a:srgbClr val="1A237E"/>
                          </a:solidFill>
                        </a:rPr>
                        <a:t>0.86</a:t>
                      </a:r>
                    </a:p>
                  </a:txBody>
                  <a:tcPr>
                    <a:solidFill>
                      <a:srgbClr val="E3F2FD"/>
                    </a:solidFill>
                  </a:tcPr>
                </a:tc>
                <a:tc>
                  <a:txBody>
                    <a:bodyPr/>
                    <a:lstStyle/>
                    <a:p>
                      <a:pPr algn="ctr"/>
                      <a:r>
                        <a:rPr sz="1100">
                          <a:solidFill>
                            <a:srgbClr val="1A237E"/>
                          </a:solidFill>
                        </a:rPr>
                        <a:t>0.92</a:t>
                      </a:r>
                    </a:p>
                  </a:txBody>
                  <a:tcPr>
                    <a:solidFill>
                      <a:srgbClr val="E3F2FD"/>
                    </a:solidFill>
                  </a:tcPr>
                </a:tc>
                <a:tc>
                  <a:txBody>
                    <a:bodyPr/>
                    <a:lstStyle/>
                    <a:p>
                      <a:pPr algn="ctr"/>
                      <a:r>
                        <a:rPr sz="1100">
                          <a:solidFill>
                            <a:srgbClr val="1A237E"/>
                          </a:solidFill>
                        </a:rPr>
                        <a:t>119,341</a:t>
                      </a:r>
                    </a:p>
                  </a:txBody>
                  <a:tcPr>
                    <a:solidFill>
                      <a:srgbClr val="E3F2FD"/>
                    </a:solidFill>
                  </a:tcPr>
                </a:tc>
                <a:extLst>
                  <a:ext uri="{0D108BD9-81ED-4DB2-BD59-A6C34878D82A}">
                    <a16:rowId xmlns:a16="http://schemas.microsoft.com/office/drawing/2014/main" val="10002"/>
                  </a:ext>
                </a:extLst>
              </a:tr>
              <a:tr h="539496">
                <a:tc>
                  <a:txBody>
                    <a:bodyPr/>
                    <a:lstStyle/>
                    <a:p>
                      <a:pPr algn="l"/>
                      <a:r>
                        <a:rPr sz="1100">
                          <a:solidFill>
                            <a:srgbClr val="1A237E"/>
                          </a:solidFill>
                        </a:rPr>
                        <a:t>Macro Ort.</a:t>
                      </a:r>
                    </a:p>
                  </a:txBody>
                  <a:tcPr>
                    <a:solidFill>
                      <a:srgbClr val="FFFFFF"/>
                    </a:solidFill>
                  </a:tcPr>
                </a:tc>
                <a:tc>
                  <a:txBody>
                    <a:bodyPr/>
                    <a:lstStyle/>
                    <a:p>
                      <a:pPr algn="ctr"/>
                      <a:r>
                        <a:rPr sz="1100">
                          <a:solidFill>
                            <a:srgbClr val="1A237E"/>
                          </a:solidFill>
                        </a:rPr>
                        <a:t>0.88</a:t>
                      </a:r>
                    </a:p>
                  </a:txBody>
                  <a:tcPr>
                    <a:solidFill>
                      <a:srgbClr val="FFFFFF"/>
                    </a:solidFill>
                  </a:tcPr>
                </a:tc>
                <a:tc>
                  <a:txBody>
                    <a:bodyPr/>
                    <a:lstStyle/>
                    <a:p>
                      <a:pPr algn="ctr"/>
                      <a:r>
                        <a:rPr sz="1100">
                          <a:solidFill>
                            <a:srgbClr val="1A237E"/>
                          </a:solidFill>
                        </a:rPr>
                        <a:t>0.92</a:t>
                      </a:r>
                    </a:p>
                  </a:txBody>
                  <a:tcPr>
                    <a:solidFill>
                      <a:srgbClr val="FFFFFF"/>
                    </a:solidFill>
                  </a:tcPr>
                </a:tc>
                <a:tc>
                  <a:txBody>
                    <a:bodyPr/>
                    <a:lstStyle/>
                    <a:p>
                      <a:pPr algn="ctr"/>
                      <a:r>
                        <a:rPr sz="1100">
                          <a:solidFill>
                            <a:srgbClr val="1A237E"/>
                          </a:solidFill>
                        </a:rPr>
                        <a:t>0.89</a:t>
                      </a:r>
                    </a:p>
                  </a:txBody>
                  <a:tcPr>
                    <a:solidFill>
                      <a:srgbClr val="FFFFFF"/>
                    </a:solidFill>
                  </a:tcPr>
                </a:tc>
                <a:tc>
                  <a:txBody>
                    <a:bodyPr/>
                    <a:lstStyle/>
                    <a:p>
                      <a:pPr algn="ctr"/>
                      <a:r>
                        <a:rPr sz="1100">
                          <a:solidFill>
                            <a:srgbClr val="1A237E"/>
                          </a:solidFill>
                        </a:rPr>
                        <a:t>175,341</a:t>
                      </a:r>
                    </a:p>
                  </a:txBody>
                  <a:tcPr>
                    <a:solidFill>
                      <a:srgbClr val="FFFFFF"/>
                    </a:solidFill>
                  </a:tcPr>
                </a:tc>
                <a:extLst>
                  <a:ext uri="{0D108BD9-81ED-4DB2-BD59-A6C34878D82A}">
                    <a16:rowId xmlns:a16="http://schemas.microsoft.com/office/drawing/2014/main" val="10003"/>
                  </a:ext>
                </a:extLst>
              </a:tr>
              <a:tr h="539496">
                <a:tc>
                  <a:txBody>
                    <a:bodyPr/>
                    <a:lstStyle/>
                    <a:p>
                      <a:pPr algn="l"/>
                      <a:r>
                        <a:rPr sz="1100">
                          <a:solidFill>
                            <a:srgbClr val="1A237E"/>
                          </a:solidFill>
                        </a:rPr>
                        <a:t>Ağırlıklı Ort.</a:t>
                      </a:r>
                    </a:p>
                  </a:txBody>
                  <a:tcPr>
                    <a:solidFill>
                      <a:srgbClr val="E3F2FD"/>
                    </a:solidFill>
                  </a:tcPr>
                </a:tc>
                <a:tc>
                  <a:txBody>
                    <a:bodyPr/>
                    <a:lstStyle/>
                    <a:p>
                      <a:pPr algn="ctr"/>
                      <a:r>
                        <a:rPr sz="1100">
                          <a:solidFill>
                            <a:srgbClr val="1A237E"/>
                          </a:solidFill>
                        </a:rPr>
                        <a:t>0.92</a:t>
                      </a:r>
                    </a:p>
                  </a:txBody>
                  <a:tcPr>
                    <a:solidFill>
                      <a:srgbClr val="E3F2FD"/>
                    </a:solidFill>
                  </a:tcPr>
                </a:tc>
                <a:tc>
                  <a:txBody>
                    <a:bodyPr/>
                    <a:lstStyle/>
                    <a:p>
                      <a:pPr algn="ctr"/>
                      <a:r>
                        <a:rPr sz="1100">
                          <a:solidFill>
                            <a:srgbClr val="1A237E"/>
                          </a:solidFill>
                        </a:rPr>
                        <a:t>0.90</a:t>
                      </a:r>
                    </a:p>
                  </a:txBody>
                  <a:tcPr>
                    <a:solidFill>
                      <a:srgbClr val="E3F2FD"/>
                    </a:solidFill>
                  </a:tcPr>
                </a:tc>
                <a:tc>
                  <a:txBody>
                    <a:bodyPr/>
                    <a:lstStyle/>
                    <a:p>
                      <a:pPr algn="ctr"/>
                      <a:r>
                        <a:rPr sz="1100">
                          <a:solidFill>
                            <a:srgbClr val="1A237E"/>
                          </a:solidFill>
                        </a:rPr>
                        <a:t>0.90</a:t>
                      </a:r>
                    </a:p>
                  </a:txBody>
                  <a:tcPr>
                    <a:solidFill>
                      <a:srgbClr val="E3F2FD"/>
                    </a:solidFill>
                  </a:tcPr>
                </a:tc>
                <a:tc>
                  <a:txBody>
                    <a:bodyPr/>
                    <a:lstStyle/>
                    <a:p>
                      <a:pPr algn="ctr"/>
                      <a:r>
                        <a:rPr sz="1100">
                          <a:solidFill>
                            <a:srgbClr val="1A237E"/>
                          </a:solidFill>
                        </a:rPr>
                        <a:t>175,341</a:t>
                      </a:r>
                    </a:p>
                  </a:txBody>
                  <a:tcPr>
                    <a:solidFill>
                      <a:srgbClr val="E3F2F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Karmaşıklık Matrisi (Confusion Matrix)</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9</a:t>
            </a:r>
          </a:p>
        </p:txBody>
      </p:sp>
      <p:pic>
        <p:nvPicPr>
          <p:cNvPr id="5" name="Picture 4" descr="confusion_matrix.png"/>
          <p:cNvPicPr>
            <a:picLocks noChangeAspect="1"/>
          </p:cNvPicPr>
          <p:nvPr/>
        </p:nvPicPr>
        <p:blipFill>
          <a:blip r:embed="rId3"/>
          <a:stretch>
            <a:fillRect/>
          </a:stretch>
        </p:blipFill>
        <p:spPr>
          <a:xfrm>
            <a:off x="274320" y="868680"/>
            <a:ext cx="11643055" cy="3703320"/>
          </a:xfrm>
          <a:prstGeom prst="rect">
            <a:avLst/>
          </a:prstGeom>
        </p:spPr>
      </p:pic>
      <p:sp>
        <p:nvSpPr>
          <p:cNvPr id="6" name="Rectangle 5"/>
          <p:cNvSpPr/>
          <p:nvPr/>
        </p:nvSpPr>
        <p:spPr>
          <a:xfrm>
            <a:off x="457200" y="5779008"/>
            <a:ext cx="2727883" cy="822960"/>
          </a:xfrm>
          <a:prstGeom prst="rect">
            <a:avLst/>
          </a:prstGeom>
          <a:solidFill>
            <a:srgbClr val="E8F5E9"/>
          </a:solidFill>
          <a:ln w="12700">
            <a:solidFill>
              <a:srgbClr val="1B6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806440"/>
            <a:ext cx="2636443" cy="347472"/>
          </a:xfrm>
          <a:prstGeom prst="rect">
            <a:avLst/>
          </a:prstGeom>
          <a:noFill/>
        </p:spPr>
        <p:txBody>
          <a:bodyPr wrap="square" lIns="0" tIns="0" rIns="0" bIns="0">
            <a:spAutoFit/>
          </a:bodyPr>
          <a:lstStyle/>
          <a:p>
            <a:pPr algn="ctr"/>
            <a:r>
              <a:rPr sz="1200" b="1" i="0">
                <a:solidFill>
                  <a:srgbClr val="1B6E35"/>
                </a:solidFill>
                <a:latin typeface="Calibri"/>
              </a:rPr>
              <a:t>TP: 103,059</a:t>
            </a:r>
          </a:p>
        </p:txBody>
      </p:sp>
      <p:sp>
        <p:nvSpPr>
          <p:cNvPr id="8" name="TextBox 7"/>
          <p:cNvSpPr txBox="1"/>
          <p:nvPr/>
        </p:nvSpPr>
        <p:spPr>
          <a:xfrm>
            <a:off x="502920" y="6126480"/>
            <a:ext cx="2636443" cy="502920"/>
          </a:xfrm>
          <a:prstGeom prst="rect">
            <a:avLst/>
          </a:prstGeom>
          <a:noFill/>
        </p:spPr>
        <p:txBody>
          <a:bodyPr wrap="square" lIns="0" tIns="0" rIns="0" bIns="0">
            <a:spAutoFit/>
          </a:bodyPr>
          <a:lstStyle/>
          <a:p>
            <a:pPr algn="ctr"/>
            <a:r>
              <a:rPr sz="1000" b="0" i="0">
                <a:solidFill>
                  <a:srgbClr val="1B6E35"/>
                </a:solidFill>
                <a:latin typeface="Calibri"/>
              </a:rPr>
              <a:t>Saldırı doğru tespit</a:t>
            </a:r>
          </a:p>
        </p:txBody>
      </p:sp>
      <p:sp>
        <p:nvSpPr>
          <p:cNvPr id="9" name="Rectangle 8"/>
          <p:cNvSpPr/>
          <p:nvPr/>
        </p:nvSpPr>
        <p:spPr>
          <a:xfrm>
            <a:off x="3303955" y="5779008"/>
            <a:ext cx="2727883" cy="822960"/>
          </a:xfrm>
          <a:prstGeom prst="rect">
            <a:avLst/>
          </a:prstGeom>
          <a:solidFill>
            <a:srgbClr val="FFEBEE"/>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49675" y="5806440"/>
            <a:ext cx="2636443" cy="347472"/>
          </a:xfrm>
          <a:prstGeom prst="rect">
            <a:avLst/>
          </a:prstGeom>
          <a:noFill/>
        </p:spPr>
        <p:txBody>
          <a:bodyPr wrap="square" lIns="0" tIns="0" rIns="0" bIns="0">
            <a:spAutoFit/>
          </a:bodyPr>
          <a:lstStyle/>
          <a:p>
            <a:pPr algn="ctr"/>
            <a:r>
              <a:rPr sz="1200" b="1" i="0">
                <a:solidFill>
                  <a:srgbClr val="C62828"/>
                </a:solidFill>
                <a:latin typeface="Calibri"/>
              </a:rPr>
              <a:t>FN: 16,282 ⚠</a:t>
            </a:r>
          </a:p>
        </p:txBody>
      </p:sp>
      <p:sp>
        <p:nvSpPr>
          <p:cNvPr id="11" name="TextBox 10"/>
          <p:cNvSpPr txBox="1"/>
          <p:nvPr/>
        </p:nvSpPr>
        <p:spPr>
          <a:xfrm>
            <a:off x="3349675" y="6126480"/>
            <a:ext cx="2636443" cy="502920"/>
          </a:xfrm>
          <a:prstGeom prst="rect">
            <a:avLst/>
          </a:prstGeom>
          <a:noFill/>
        </p:spPr>
        <p:txBody>
          <a:bodyPr wrap="square" lIns="0" tIns="0" rIns="0" bIns="0">
            <a:spAutoFit/>
          </a:bodyPr>
          <a:lstStyle/>
          <a:p>
            <a:pPr algn="ctr"/>
            <a:r>
              <a:rPr sz="1000" b="0" i="0">
                <a:solidFill>
                  <a:srgbClr val="C62828"/>
                </a:solidFill>
                <a:latin typeface="Calibri"/>
              </a:rPr>
              <a:t>Saldırı KAÇIRILDI</a:t>
            </a:r>
          </a:p>
        </p:txBody>
      </p:sp>
      <p:sp>
        <p:nvSpPr>
          <p:cNvPr id="12" name="Rectangle 11"/>
          <p:cNvSpPr/>
          <p:nvPr/>
        </p:nvSpPr>
        <p:spPr>
          <a:xfrm>
            <a:off x="6150711" y="5779008"/>
            <a:ext cx="2727883" cy="822960"/>
          </a:xfrm>
          <a:prstGeom prst="rect">
            <a:avLst/>
          </a:prstGeom>
          <a:solidFill>
            <a:srgbClr val="FFF3E0"/>
          </a:solidFill>
          <a:ln w="127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96431" y="5806440"/>
            <a:ext cx="2636443" cy="347472"/>
          </a:xfrm>
          <a:prstGeom prst="rect">
            <a:avLst/>
          </a:prstGeom>
          <a:noFill/>
        </p:spPr>
        <p:txBody>
          <a:bodyPr wrap="square" lIns="0" tIns="0" rIns="0" bIns="0">
            <a:spAutoFit/>
          </a:bodyPr>
          <a:lstStyle/>
          <a:p>
            <a:pPr algn="ctr"/>
            <a:r>
              <a:rPr sz="1200" b="1" i="0">
                <a:solidFill>
                  <a:srgbClr val="E65C00"/>
                </a:solidFill>
                <a:latin typeface="Calibri"/>
              </a:rPr>
              <a:t>FP: 1,023 ⚠</a:t>
            </a:r>
          </a:p>
        </p:txBody>
      </p:sp>
      <p:sp>
        <p:nvSpPr>
          <p:cNvPr id="14" name="TextBox 13"/>
          <p:cNvSpPr txBox="1"/>
          <p:nvPr/>
        </p:nvSpPr>
        <p:spPr>
          <a:xfrm>
            <a:off x="6196431" y="6126480"/>
            <a:ext cx="2636443" cy="502920"/>
          </a:xfrm>
          <a:prstGeom prst="rect">
            <a:avLst/>
          </a:prstGeom>
          <a:noFill/>
        </p:spPr>
        <p:txBody>
          <a:bodyPr wrap="square" lIns="0" tIns="0" rIns="0" bIns="0">
            <a:spAutoFit/>
          </a:bodyPr>
          <a:lstStyle/>
          <a:p>
            <a:pPr algn="ctr"/>
            <a:r>
              <a:rPr sz="1000" b="0" i="0">
                <a:solidFill>
                  <a:srgbClr val="E65C00"/>
                </a:solidFill>
                <a:latin typeface="Calibri"/>
              </a:rPr>
              <a:t>Normal → YANLIŞ işaretlendi</a:t>
            </a:r>
          </a:p>
        </p:txBody>
      </p:sp>
      <p:sp>
        <p:nvSpPr>
          <p:cNvPr id="15" name="Rectangle 14"/>
          <p:cNvSpPr/>
          <p:nvPr/>
        </p:nvSpPr>
        <p:spPr>
          <a:xfrm>
            <a:off x="8997467" y="5779008"/>
            <a:ext cx="2727883" cy="822960"/>
          </a:xfrm>
          <a:prstGeom prst="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43187" y="5806440"/>
            <a:ext cx="2636443" cy="347472"/>
          </a:xfrm>
          <a:prstGeom prst="rect">
            <a:avLst/>
          </a:prstGeom>
          <a:noFill/>
        </p:spPr>
        <p:txBody>
          <a:bodyPr wrap="square" lIns="0" tIns="0" rIns="0" bIns="0">
            <a:spAutoFit/>
          </a:bodyPr>
          <a:lstStyle/>
          <a:p>
            <a:pPr algn="ctr"/>
            <a:r>
              <a:rPr sz="1200" b="1" i="0">
                <a:solidFill>
                  <a:srgbClr val="1565C0"/>
                </a:solidFill>
                <a:latin typeface="Calibri"/>
              </a:rPr>
              <a:t>TN: 54,977</a:t>
            </a:r>
          </a:p>
        </p:txBody>
      </p:sp>
      <p:sp>
        <p:nvSpPr>
          <p:cNvPr id="17" name="TextBox 16"/>
          <p:cNvSpPr txBox="1"/>
          <p:nvPr/>
        </p:nvSpPr>
        <p:spPr>
          <a:xfrm>
            <a:off x="9043187" y="6126480"/>
            <a:ext cx="2636443" cy="502920"/>
          </a:xfrm>
          <a:prstGeom prst="rect">
            <a:avLst/>
          </a:prstGeom>
          <a:noFill/>
        </p:spPr>
        <p:txBody>
          <a:bodyPr wrap="square" lIns="0" tIns="0" rIns="0" bIns="0">
            <a:spAutoFit/>
          </a:bodyPr>
          <a:lstStyle/>
          <a:p>
            <a:pPr algn="ctr"/>
            <a:r>
              <a:rPr sz="1000" b="0" i="0">
                <a:solidFill>
                  <a:srgbClr val="1565C0"/>
                </a:solidFill>
                <a:latin typeface="Calibri"/>
              </a:rPr>
              <a:t>Normal doğru tespit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ROC Eğrisi ve Özellik Önemi</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10</a:t>
            </a:r>
          </a:p>
        </p:txBody>
      </p:sp>
      <p:pic>
        <p:nvPicPr>
          <p:cNvPr id="5" name="Picture 4" descr="roc_curve.png"/>
          <p:cNvPicPr>
            <a:picLocks noChangeAspect="1"/>
          </p:cNvPicPr>
          <p:nvPr/>
        </p:nvPicPr>
        <p:blipFill>
          <a:blip r:embed="rId3"/>
          <a:stretch>
            <a:fillRect/>
          </a:stretch>
        </p:blipFill>
        <p:spPr>
          <a:xfrm>
            <a:off x="274320" y="868680"/>
            <a:ext cx="5684367" cy="5029200"/>
          </a:xfrm>
          <a:prstGeom prst="rect">
            <a:avLst/>
          </a:prstGeom>
        </p:spPr>
      </p:pic>
      <p:pic>
        <p:nvPicPr>
          <p:cNvPr id="6" name="Picture 5" descr="feature_importance.png"/>
          <p:cNvPicPr>
            <a:picLocks noChangeAspect="1"/>
          </p:cNvPicPr>
          <p:nvPr/>
        </p:nvPicPr>
        <p:blipFill>
          <a:blip r:embed="rId4"/>
          <a:stretch>
            <a:fillRect/>
          </a:stretch>
        </p:blipFill>
        <p:spPr>
          <a:xfrm>
            <a:off x="6233007" y="868680"/>
            <a:ext cx="5684367" cy="5029200"/>
          </a:xfrm>
          <a:prstGeom prst="rect">
            <a:avLst/>
          </a:prstGeom>
        </p:spPr>
      </p:pic>
      <p:sp>
        <p:nvSpPr>
          <p:cNvPr id="7" name="TextBox 6"/>
          <p:cNvSpPr txBox="1"/>
          <p:nvPr/>
        </p:nvSpPr>
        <p:spPr>
          <a:xfrm>
            <a:off x="457200" y="6473952"/>
            <a:ext cx="5410047" cy="320040"/>
          </a:xfrm>
          <a:prstGeom prst="rect">
            <a:avLst/>
          </a:prstGeom>
          <a:noFill/>
        </p:spPr>
        <p:txBody>
          <a:bodyPr wrap="square" lIns="0" tIns="0" rIns="0" bIns="0">
            <a:spAutoFit/>
          </a:bodyPr>
          <a:lstStyle/>
          <a:p>
            <a:pPr algn="ctr"/>
            <a:r>
              <a:rPr sz="1200" b="1" i="0">
                <a:solidFill>
                  <a:srgbClr val="1565C0"/>
                </a:solidFill>
                <a:latin typeface="Calibri"/>
              </a:rPr>
              <a:t>AUC = 0.9864</a:t>
            </a:r>
          </a:p>
        </p:txBody>
      </p:sp>
      <p:sp>
        <p:nvSpPr>
          <p:cNvPr id="8" name="TextBox 7"/>
          <p:cNvSpPr txBox="1"/>
          <p:nvPr/>
        </p:nvSpPr>
        <p:spPr>
          <a:xfrm>
            <a:off x="6415887" y="6473952"/>
            <a:ext cx="5410047" cy="320040"/>
          </a:xfrm>
          <a:prstGeom prst="rect">
            <a:avLst/>
          </a:prstGeom>
          <a:noFill/>
        </p:spPr>
        <p:txBody>
          <a:bodyPr wrap="square" lIns="0" tIns="0" rIns="0" bIns="0">
            <a:spAutoFit/>
          </a:bodyPr>
          <a:lstStyle/>
          <a:p>
            <a:pPr algn="ctr"/>
            <a:r>
              <a:rPr sz="1200" b="1" i="0">
                <a:solidFill>
                  <a:srgbClr val="1565C0"/>
                </a:solidFill>
                <a:latin typeface="Calibri"/>
              </a:rPr>
              <a:t>ct_state_ttl, sttl, dttl en belirleyici özellikler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Etik ve Güvenlik Risk Analizi</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11</a:t>
            </a:r>
          </a:p>
        </p:txBody>
      </p:sp>
      <p:pic>
        <p:nvPicPr>
          <p:cNvPr id="5" name="Picture 4" descr="risk_analysis.png"/>
          <p:cNvPicPr>
            <a:picLocks noChangeAspect="1"/>
          </p:cNvPicPr>
          <p:nvPr/>
        </p:nvPicPr>
        <p:blipFill>
          <a:blip r:embed="rId3"/>
          <a:stretch>
            <a:fillRect/>
          </a:stretch>
        </p:blipFill>
        <p:spPr>
          <a:xfrm>
            <a:off x="274320" y="868680"/>
            <a:ext cx="11643055" cy="3246120"/>
          </a:xfrm>
          <a:prstGeom prst="rect">
            <a:avLst/>
          </a:prstGeom>
        </p:spPr>
      </p:pic>
      <p:sp>
        <p:nvSpPr>
          <p:cNvPr id="6" name="Rectangle 5"/>
          <p:cNvSpPr/>
          <p:nvPr/>
        </p:nvSpPr>
        <p:spPr>
          <a:xfrm>
            <a:off x="365760" y="4251959"/>
            <a:ext cx="5592927" cy="2560320"/>
          </a:xfrm>
          <a:prstGeom prst="rect">
            <a:avLst/>
          </a:prstGeom>
          <a:solidFill>
            <a:srgbClr val="FFF3E0"/>
          </a:solidFill>
          <a:ln w="254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4297680"/>
            <a:ext cx="5318607" cy="347472"/>
          </a:xfrm>
          <a:prstGeom prst="rect">
            <a:avLst/>
          </a:prstGeom>
          <a:noFill/>
        </p:spPr>
        <p:txBody>
          <a:bodyPr wrap="square" lIns="0" tIns="0" rIns="0" bIns="0">
            <a:spAutoFit/>
          </a:bodyPr>
          <a:lstStyle/>
          <a:p>
            <a:pPr algn="l"/>
            <a:r>
              <a:rPr sz="1400" b="1" i="0">
                <a:solidFill>
                  <a:srgbClr val="E65C00"/>
                </a:solidFill>
                <a:latin typeface="Calibri"/>
              </a:rPr>
              <a:t>ETİK RİSK</a:t>
            </a:r>
          </a:p>
        </p:txBody>
      </p:sp>
      <p:sp>
        <p:nvSpPr>
          <p:cNvPr id="8" name="TextBox 7"/>
          <p:cNvSpPr txBox="1"/>
          <p:nvPr/>
        </p:nvSpPr>
        <p:spPr>
          <a:xfrm>
            <a:off x="502920" y="4690872"/>
            <a:ext cx="5318607" cy="2011680"/>
          </a:xfrm>
          <a:prstGeom prst="rect">
            <a:avLst/>
          </a:prstGeom>
          <a:noFill/>
        </p:spPr>
        <p:txBody>
          <a:bodyPr wrap="square" lIns="45720" tIns="27432" rIns="45720" bIns="27432">
            <a:spAutoFit/>
          </a:bodyPr>
          <a:lstStyle/>
          <a:p>
            <a:pPr>
              <a:spcAft>
                <a:spcPts val="600"/>
              </a:spcAft>
            </a:pPr>
            <a:r>
              <a:rPr sz="1200">
                <a:solidFill>
                  <a:srgbClr val="E65C00"/>
                </a:solidFill>
                <a:latin typeface="Calibri"/>
              </a:rPr>
              <a:t>▸  1,023 masum kullanıcı saldırgan olarak işaretlendi</a:t>
            </a:r>
          </a:p>
          <a:p>
            <a:pPr>
              <a:spcAft>
                <a:spcPts val="600"/>
              </a:spcAft>
            </a:pPr>
            <a:r>
              <a:rPr sz="1200">
                <a:solidFill>
                  <a:srgbClr val="E65C00"/>
                </a:solidFill>
                <a:latin typeface="Calibri"/>
              </a:rPr>
              <a:t>▸  Haksız erişim engelleme riski</a:t>
            </a:r>
          </a:p>
          <a:p>
            <a:pPr>
              <a:spcAft>
                <a:spcPts val="600"/>
              </a:spcAft>
            </a:pPr>
            <a:r>
              <a:rPr sz="1200">
                <a:solidFill>
                  <a:srgbClr val="E65C00"/>
                </a:solidFill>
                <a:latin typeface="Calibri"/>
              </a:rPr>
              <a:t>▸  Kullanıcıda güven kaybı</a:t>
            </a:r>
          </a:p>
          <a:p>
            <a:pPr>
              <a:spcAft>
                <a:spcPts val="600"/>
              </a:spcAft>
            </a:pPr>
            <a:r>
              <a:rPr sz="1200">
                <a:solidFill>
                  <a:srgbClr val="E65C00"/>
                </a:solidFill>
                <a:latin typeface="Calibri"/>
              </a:rPr>
              <a:t>▸  Orantısız izleme sorunu (GDPR)</a:t>
            </a:r>
          </a:p>
        </p:txBody>
      </p:sp>
      <p:sp>
        <p:nvSpPr>
          <p:cNvPr id="9" name="Rectangle 8"/>
          <p:cNvSpPr/>
          <p:nvPr/>
        </p:nvSpPr>
        <p:spPr>
          <a:xfrm>
            <a:off x="6141567" y="4251959"/>
            <a:ext cx="5592927" cy="2560320"/>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78727" y="4297680"/>
            <a:ext cx="5318607" cy="347472"/>
          </a:xfrm>
          <a:prstGeom prst="rect">
            <a:avLst/>
          </a:prstGeom>
          <a:noFill/>
        </p:spPr>
        <p:txBody>
          <a:bodyPr wrap="square" lIns="0" tIns="0" rIns="0" bIns="0">
            <a:spAutoFit/>
          </a:bodyPr>
          <a:lstStyle/>
          <a:p>
            <a:pPr algn="l"/>
            <a:r>
              <a:rPr sz="1400" b="1" i="0">
                <a:solidFill>
                  <a:srgbClr val="C62828"/>
                </a:solidFill>
                <a:latin typeface="Calibri"/>
              </a:rPr>
              <a:t>GÜVENLİK RİSKİ</a:t>
            </a:r>
          </a:p>
        </p:txBody>
      </p:sp>
      <p:sp>
        <p:nvSpPr>
          <p:cNvPr id="11" name="TextBox 10"/>
          <p:cNvSpPr txBox="1"/>
          <p:nvPr/>
        </p:nvSpPr>
        <p:spPr>
          <a:xfrm>
            <a:off x="6278727" y="4690872"/>
            <a:ext cx="5318607" cy="2011680"/>
          </a:xfrm>
          <a:prstGeom prst="rect">
            <a:avLst/>
          </a:prstGeom>
          <a:noFill/>
        </p:spPr>
        <p:txBody>
          <a:bodyPr wrap="square" lIns="45720" tIns="27432" rIns="45720" bIns="27432">
            <a:spAutoFit/>
          </a:bodyPr>
          <a:lstStyle/>
          <a:p>
            <a:pPr>
              <a:spcAft>
                <a:spcPts val="600"/>
              </a:spcAft>
            </a:pPr>
            <a:r>
              <a:rPr sz="1200">
                <a:solidFill>
                  <a:srgbClr val="C62828"/>
                </a:solidFill>
                <a:latin typeface="Calibri"/>
              </a:rPr>
              <a:t>▸  16,282 gerçek saldırı tespit edilemedi</a:t>
            </a:r>
          </a:p>
          <a:p>
            <a:pPr>
              <a:spcAft>
                <a:spcPts val="600"/>
              </a:spcAft>
            </a:pPr>
            <a:r>
              <a:rPr sz="1200">
                <a:solidFill>
                  <a:srgbClr val="C62828"/>
                </a:solidFill>
                <a:latin typeface="Calibri"/>
              </a:rPr>
              <a:t>▸  Sistem güvenlik açığı oluşabilir</a:t>
            </a:r>
          </a:p>
          <a:p>
            <a:pPr>
              <a:spcAft>
                <a:spcPts val="600"/>
              </a:spcAft>
            </a:pPr>
            <a:r>
              <a:rPr sz="1200">
                <a:solidFill>
                  <a:srgbClr val="C62828"/>
                </a:solidFill>
                <a:latin typeface="Calibri"/>
              </a:rPr>
              <a:t>▸  Veri ihlali ve ağ ihlali riski</a:t>
            </a:r>
          </a:p>
          <a:p>
            <a:pPr>
              <a:spcAft>
                <a:spcPts val="600"/>
              </a:spcAft>
            </a:pPr>
            <a:r>
              <a:rPr sz="1200">
                <a:solidFill>
                  <a:srgbClr val="C62828"/>
                </a:solidFill>
                <a:latin typeface="Calibri"/>
              </a:rPr>
              <a:t>▸  Altyapı güvenliği tehlikeye girer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Mahremiyet ve GDPR Değerlendirmesi</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12</a:t>
            </a:r>
          </a:p>
        </p:txBody>
      </p:sp>
      <p:graphicFrame>
        <p:nvGraphicFramePr>
          <p:cNvPr id="5" name="Table 4"/>
          <p:cNvGraphicFramePr>
            <a:graphicFrameLocks noGrp="1"/>
          </p:cNvGraphicFramePr>
          <p:nvPr/>
        </p:nvGraphicFramePr>
        <p:xfrm>
          <a:off x="365760" y="914400"/>
          <a:ext cx="11460174" cy="3200400"/>
        </p:xfrm>
        <a:graphic>
          <a:graphicData uri="http://schemas.openxmlformats.org/drawingml/2006/table">
            <a:tbl>
              <a:tblPr firstRow="1" bandRow="1">
                <a:tableStyleId>{5C22544A-7EE6-4342-B048-85BDC9FD1C3A}</a:tableStyleId>
              </a:tblPr>
              <a:tblGrid>
                <a:gridCol w="3820058">
                  <a:extLst>
                    <a:ext uri="{9D8B030D-6E8A-4147-A177-3AD203B41FA5}">
                      <a16:colId xmlns:a16="http://schemas.microsoft.com/office/drawing/2014/main" val="20000"/>
                    </a:ext>
                  </a:extLst>
                </a:gridCol>
                <a:gridCol w="3820058">
                  <a:extLst>
                    <a:ext uri="{9D8B030D-6E8A-4147-A177-3AD203B41FA5}">
                      <a16:colId xmlns:a16="http://schemas.microsoft.com/office/drawing/2014/main" val="20001"/>
                    </a:ext>
                  </a:extLst>
                </a:gridCol>
                <a:gridCol w="3820058">
                  <a:extLst>
                    <a:ext uri="{9D8B030D-6E8A-4147-A177-3AD203B41FA5}">
                      <a16:colId xmlns:a16="http://schemas.microsoft.com/office/drawing/2014/main" val="20002"/>
                    </a:ext>
                  </a:extLst>
                </a:gridCol>
              </a:tblGrid>
              <a:tr h="457200">
                <a:tc>
                  <a:txBody>
                    <a:bodyPr/>
                    <a:lstStyle/>
                    <a:p>
                      <a:pPr algn="l"/>
                      <a:r>
                        <a:rPr sz="1200" b="1">
                          <a:solidFill>
                            <a:srgbClr val="FFFFFF"/>
                          </a:solidFill>
                        </a:rPr>
                        <a:t>Özellik / Veri</a:t>
                      </a:r>
                    </a:p>
                  </a:txBody>
                  <a:tcPr>
                    <a:solidFill>
                      <a:srgbClr val="1A237E"/>
                    </a:solidFill>
                  </a:tcPr>
                </a:tc>
                <a:tc>
                  <a:txBody>
                    <a:bodyPr/>
                    <a:lstStyle/>
                    <a:p>
                      <a:pPr algn="ctr"/>
                      <a:r>
                        <a:rPr sz="1200" b="1">
                          <a:solidFill>
                            <a:srgbClr val="FFFFFF"/>
                          </a:solidFill>
                        </a:rPr>
                        <a:t>Açıklama</a:t>
                      </a:r>
                    </a:p>
                  </a:txBody>
                  <a:tcPr>
                    <a:solidFill>
                      <a:srgbClr val="1A237E"/>
                    </a:solidFill>
                  </a:tcPr>
                </a:tc>
                <a:tc>
                  <a:txBody>
                    <a:bodyPr/>
                    <a:lstStyle/>
                    <a:p>
                      <a:pPr algn="ctr"/>
                      <a:r>
                        <a:rPr sz="1200" b="1">
                          <a:solidFill>
                            <a:srgbClr val="FFFFFF"/>
                          </a:solidFill>
                        </a:rPr>
                        <a:t>GDPR Riski</a:t>
                      </a:r>
                    </a:p>
                  </a:txBody>
                  <a:tcPr>
                    <a:solidFill>
                      <a:srgbClr val="1A237E"/>
                    </a:solidFill>
                  </a:tcPr>
                </a:tc>
                <a:extLst>
                  <a:ext uri="{0D108BD9-81ED-4DB2-BD59-A6C34878D82A}">
                    <a16:rowId xmlns:a16="http://schemas.microsoft.com/office/drawing/2014/main" val="10000"/>
                  </a:ext>
                </a:extLst>
              </a:tr>
              <a:tr h="457200">
                <a:tc>
                  <a:txBody>
                    <a:bodyPr/>
                    <a:lstStyle/>
                    <a:p>
                      <a:pPr algn="l"/>
                      <a:r>
                        <a:rPr sz="1100">
                          <a:solidFill>
                            <a:srgbClr val="1A237E"/>
                          </a:solidFill>
                        </a:rPr>
                        <a:t>IP Adresi</a:t>
                      </a:r>
                    </a:p>
                  </a:txBody>
                  <a:tcPr>
                    <a:solidFill>
                      <a:srgbClr val="FFFFFF"/>
                    </a:solidFill>
                  </a:tcPr>
                </a:tc>
                <a:tc>
                  <a:txBody>
                    <a:bodyPr/>
                    <a:lstStyle/>
                    <a:p>
                      <a:pPr algn="ctr"/>
                      <a:r>
                        <a:rPr sz="1100">
                          <a:solidFill>
                            <a:srgbClr val="1A237E"/>
                          </a:solidFill>
                        </a:rPr>
                        <a:t>Kaynak / Hedef adresi</a:t>
                      </a:r>
                    </a:p>
                  </a:txBody>
                  <a:tcPr>
                    <a:solidFill>
                      <a:srgbClr val="FFFFFF"/>
                    </a:solidFill>
                  </a:tcPr>
                </a:tc>
                <a:tc>
                  <a:txBody>
                    <a:bodyPr/>
                    <a:lstStyle/>
                    <a:p>
                      <a:pPr algn="ctr"/>
                      <a:r>
                        <a:rPr sz="1100">
                          <a:solidFill>
                            <a:srgbClr val="1A237E"/>
                          </a:solidFill>
                        </a:rPr>
                        <a:t>YÜKSEK — Kişisel veri</a:t>
                      </a:r>
                    </a:p>
                  </a:txBody>
                  <a:tcPr>
                    <a:solidFill>
                      <a:srgbClr val="FFFFFF"/>
                    </a:solidFill>
                  </a:tcPr>
                </a:tc>
                <a:extLst>
                  <a:ext uri="{0D108BD9-81ED-4DB2-BD59-A6C34878D82A}">
                    <a16:rowId xmlns:a16="http://schemas.microsoft.com/office/drawing/2014/main" val="10001"/>
                  </a:ext>
                </a:extLst>
              </a:tr>
              <a:tr h="457200">
                <a:tc>
                  <a:txBody>
                    <a:bodyPr/>
                    <a:lstStyle/>
                    <a:p>
                      <a:pPr algn="l"/>
                      <a:r>
                        <a:rPr sz="1100">
                          <a:solidFill>
                            <a:srgbClr val="1A237E"/>
                          </a:solidFill>
                        </a:rPr>
                        <a:t>Port Numarası</a:t>
                      </a:r>
                    </a:p>
                  </a:txBody>
                  <a:tcPr>
                    <a:solidFill>
                      <a:srgbClr val="E3F2FD"/>
                    </a:solidFill>
                  </a:tcPr>
                </a:tc>
                <a:tc>
                  <a:txBody>
                    <a:bodyPr/>
                    <a:lstStyle/>
                    <a:p>
                      <a:pPr algn="ctr"/>
                      <a:r>
                        <a:rPr sz="1100">
                          <a:solidFill>
                            <a:srgbClr val="1A237E"/>
                          </a:solidFill>
                        </a:rPr>
                        <a:t>Kaynak / Hedef port</a:t>
                      </a:r>
                    </a:p>
                  </a:txBody>
                  <a:tcPr>
                    <a:solidFill>
                      <a:srgbClr val="E3F2FD"/>
                    </a:solidFill>
                  </a:tcPr>
                </a:tc>
                <a:tc>
                  <a:txBody>
                    <a:bodyPr/>
                    <a:lstStyle/>
                    <a:p>
                      <a:pPr algn="ctr"/>
                      <a:r>
                        <a:rPr sz="1100">
                          <a:solidFill>
                            <a:srgbClr val="1A237E"/>
                          </a:solidFill>
                        </a:rPr>
                        <a:t>ORTA — Dolaylı tanımlayıcı</a:t>
                      </a:r>
                    </a:p>
                  </a:txBody>
                  <a:tcPr>
                    <a:solidFill>
                      <a:srgbClr val="E3F2FD"/>
                    </a:solidFill>
                  </a:tcPr>
                </a:tc>
                <a:extLst>
                  <a:ext uri="{0D108BD9-81ED-4DB2-BD59-A6C34878D82A}">
                    <a16:rowId xmlns:a16="http://schemas.microsoft.com/office/drawing/2014/main" val="10002"/>
                  </a:ext>
                </a:extLst>
              </a:tr>
              <a:tr h="457200">
                <a:tc>
                  <a:txBody>
                    <a:bodyPr/>
                    <a:lstStyle/>
                    <a:p>
                      <a:pPr algn="l"/>
                      <a:r>
                        <a:rPr sz="1100">
                          <a:solidFill>
                            <a:srgbClr val="1A237E"/>
                          </a:solidFill>
                        </a:rPr>
                        <a:t>Zaman Damgası</a:t>
                      </a:r>
                    </a:p>
                  </a:txBody>
                  <a:tcPr>
                    <a:solidFill>
                      <a:srgbClr val="FFFFFF"/>
                    </a:solidFill>
                  </a:tcPr>
                </a:tc>
                <a:tc>
                  <a:txBody>
                    <a:bodyPr/>
                    <a:lstStyle/>
                    <a:p>
                      <a:pPr algn="ctr"/>
                      <a:r>
                        <a:rPr sz="1100">
                          <a:solidFill>
                            <a:srgbClr val="1A237E"/>
                          </a:solidFill>
                        </a:rPr>
                        <a:t>Bağlantı başlangıç / bitiş</a:t>
                      </a:r>
                    </a:p>
                  </a:txBody>
                  <a:tcPr>
                    <a:solidFill>
                      <a:srgbClr val="FFFFFF"/>
                    </a:solidFill>
                  </a:tcPr>
                </a:tc>
                <a:tc>
                  <a:txBody>
                    <a:bodyPr/>
                    <a:lstStyle/>
                    <a:p>
                      <a:pPr algn="ctr"/>
                      <a:r>
                        <a:rPr sz="1100">
                          <a:solidFill>
                            <a:srgbClr val="1A237E"/>
                          </a:solidFill>
                        </a:rPr>
                        <a:t>ORTA — Davranış profili</a:t>
                      </a:r>
                    </a:p>
                  </a:txBody>
                  <a:tcPr>
                    <a:solidFill>
                      <a:srgbClr val="FFFFFF"/>
                    </a:solidFill>
                  </a:tcPr>
                </a:tc>
                <a:extLst>
                  <a:ext uri="{0D108BD9-81ED-4DB2-BD59-A6C34878D82A}">
                    <a16:rowId xmlns:a16="http://schemas.microsoft.com/office/drawing/2014/main" val="10003"/>
                  </a:ext>
                </a:extLst>
              </a:tr>
              <a:tr h="457200">
                <a:tc>
                  <a:txBody>
                    <a:bodyPr/>
                    <a:lstStyle/>
                    <a:p>
                      <a:pPr algn="l"/>
                      <a:r>
                        <a:rPr sz="1100">
                          <a:solidFill>
                            <a:srgbClr val="1A237E"/>
                          </a:solidFill>
                        </a:rPr>
                        <a:t>Protokol</a:t>
                      </a:r>
                    </a:p>
                  </a:txBody>
                  <a:tcPr>
                    <a:solidFill>
                      <a:srgbClr val="E3F2FD"/>
                    </a:solidFill>
                  </a:tcPr>
                </a:tc>
                <a:tc>
                  <a:txBody>
                    <a:bodyPr/>
                    <a:lstStyle/>
                    <a:p>
                      <a:pPr algn="ctr"/>
                      <a:r>
                        <a:rPr sz="1100">
                          <a:solidFill>
                            <a:srgbClr val="1A237E"/>
                          </a:solidFill>
                        </a:rPr>
                        <a:t>TCP / UDP / HTTP vb.</a:t>
                      </a:r>
                    </a:p>
                  </a:txBody>
                  <a:tcPr>
                    <a:solidFill>
                      <a:srgbClr val="E3F2FD"/>
                    </a:solidFill>
                  </a:tcPr>
                </a:tc>
                <a:tc>
                  <a:txBody>
                    <a:bodyPr/>
                    <a:lstStyle/>
                    <a:p>
                      <a:pPr algn="ctr"/>
                      <a:r>
                        <a:rPr sz="1100">
                          <a:solidFill>
                            <a:srgbClr val="1A237E"/>
                          </a:solidFill>
                        </a:rPr>
                        <a:t>DÜŞÜK</a:t>
                      </a:r>
                    </a:p>
                  </a:txBody>
                  <a:tcPr>
                    <a:solidFill>
                      <a:srgbClr val="E3F2FD"/>
                    </a:solidFill>
                  </a:tcPr>
                </a:tc>
                <a:extLst>
                  <a:ext uri="{0D108BD9-81ED-4DB2-BD59-A6C34878D82A}">
                    <a16:rowId xmlns:a16="http://schemas.microsoft.com/office/drawing/2014/main" val="10004"/>
                  </a:ext>
                </a:extLst>
              </a:tr>
              <a:tr h="457200">
                <a:tc>
                  <a:txBody>
                    <a:bodyPr/>
                    <a:lstStyle/>
                    <a:p>
                      <a:pPr algn="l"/>
                      <a:r>
                        <a:rPr sz="1100">
                          <a:solidFill>
                            <a:srgbClr val="1A237E"/>
                          </a:solidFill>
                        </a:rPr>
                        <a:t>ct_src_ltm</a:t>
                      </a:r>
                    </a:p>
                  </a:txBody>
                  <a:tcPr>
                    <a:solidFill>
                      <a:srgbClr val="FFFFFF"/>
                    </a:solidFill>
                  </a:tcPr>
                </a:tc>
                <a:tc>
                  <a:txBody>
                    <a:bodyPr/>
                    <a:lstStyle/>
                    <a:p>
                      <a:pPr algn="ctr"/>
                      <a:r>
                        <a:rPr sz="1100">
                          <a:solidFill>
                            <a:srgbClr val="1A237E"/>
                          </a:solidFill>
                        </a:rPr>
                        <a:t>Son bağlantı sayısı (kaynak)</a:t>
                      </a:r>
                    </a:p>
                  </a:txBody>
                  <a:tcPr>
                    <a:solidFill>
                      <a:srgbClr val="FFFFFF"/>
                    </a:solidFill>
                  </a:tcPr>
                </a:tc>
                <a:tc>
                  <a:txBody>
                    <a:bodyPr/>
                    <a:lstStyle/>
                    <a:p>
                      <a:pPr algn="ctr"/>
                      <a:r>
                        <a:rPr sz="1100">
                          <a:solidFill>
                            <a:srgbClr val="1A237E"/>
                          </a:solidFill>
                        </a:rPr>
                        <a:t>ORTA — Kullanım örüntüsü</a:t>
                      </a:r>
                    </a:p>
                  </a:txBody>
                  <a:tcPr>
                    <a:solidFill>
                      <a:srgbClr val="FFFFFF"/>
                    </a:solidFill>
                  </a:tcPr>
                </a:tc>
                <a:extLst>
                  <a:ext uri="{0D108BD9-81ED-4DB2-BD59-A6C34878D82A}">
                    <a16:rowId xmlns:a16="http://schemas.microsoft.com/office/drawing/2014/main" val="10005"/>
                  </a:ext>
                </a:extLst>
              </a:tr>
              <a:tr h="457200">
                <a:tc>
                  <a:txBody>
                    <a:bodyPr/>
                    <a:lstStyle/>
                    <a:p>
                      <a:pPr algn="l"/>
                      <a:r>
                        <a:rPr sz="1100">
                          <a:solidFill>
                            <a:srgbClr val="1A237E"/>
                          </a:solidFill>
                        </a:rPr>
                        <a:t>ct_dst_ltm</a:t>
                      </a:r>
                    </a:p>
                  </a:txBody>
                  <a:tcPr>
                    <a:solidFill>
                      <a:srgbClr val="E3F2FD"/>
                    </a:solidFill>
                  </a:tcPr>
                </a:tc>
                <a:tc>
                  <a:txBody>
                    <a:bodyPr/>
                    <a:lstStyle/>
                    <a:p>
                      <a:pPr algn="ctr"/>
                      <a:r>
                        <a:rPr sz="1100">
                          <a:solidFill>
                            <a:srgbClr val="1A237E"/>
                          </a:solidFill>
                        </a:rPr>
                        <a:t>Son bağlantı sayısı (hedef)</a:t>
                      </a:r>
                    </a:p>
                  </a:txBody>
                  <a:tcPr>
                    <a:solidFill>
                      <a:srgbClr val="E3F2FD"/>
                    </a:solidFill>
                  </a:tcPr>
                </a:tc>
                <a:tc>
                  <a:txBody>
                    <a:bodyPr/>
                    <a:lstStyle/>
                    <a:p>
                      <a:pPr algn="ctr"/>
                      <a:r>
                        <a:rPr sz="1100">
                          <a:solidFill>
                            <a:srgbClr val="1A237E"/>
                          </a:solidFill>
                        </a:rPr>
                        <a:t>ORTA — Kullanım örüntüsü</a:t>
                      </a:r>
                    </a:p>
                  </a:txBody>
                  <a:tcPr>
                    <a:solidFill>
                      <a:srgbClr val="E3F2FD"/>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365760" y="4297680"/>
            <a:ext cx="3606698" cy="457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4325112"/>
            <a:ext cx="3460394" cy="384048"/>
          </a:xfrm>
          <a:prstGeom prst="rect">
            <a:avLst/>
          </a:prstGeom>
          <a:noFill/>
        </p:spPr>
        <p:txBody>
          <a:bodyPr wrap="square" lIns="0" tIns="0" rIns="0" bIns="0">
            <a:spAutoFit/>
          </a:bodyPr>
          <a:lstStyle/>
          <a:p>
            <a:pPr algn="l"/>
            <a:r>
              <a:rPr sz="1200" b="1" i="0">
                <a:solidFill>
                  <a:srgbClr val="FFFFFF"/>
                </a:solidFill>
                <a:latin typeface="Calibri"/>
              </a:rPr>
              <a:t>GDPR: Amaçla Sınırlılık</a:t>
            </a:r>
          </a:p>
        </p:txBody>
      </p:sp>
      <p:sp>
        <p:nvSpPr>
          <p:cNvPr id="8" name="Rectangle 7"/>
          <p:cNvSpPr/>
          <p:nvPr/>
        </p:nvSpPr>
        <p:spPr>
          <a:xfrm>
            <a:off x="365760" y="4782312"/>
            <a:ext cx="3606698" cy="1554480"/>
          </a:xfrm>
          <a:prstGeom prst="rect">
            <a:avLst/>
          </a:prstGeom>
          <a:solidFill>
            <a:srgbClr val="E3F2FD"/>
          </a:solidFill>
          <a:ln w="127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846320"/>
            <a:ext cx="3423818" cy="1417320"/>
          </a:xfrm>
          <a:prstGeom prst="rect">
            <a:avLst/>
          </a:prstGeom>
          <a:noFill/>
        </p:spPr>
        <p:txBody>
          <a:bodyPr wrap="square" lIns="0" tIns="0" rIns="0" bIns="0">
            <a:spAutoFit/>
          </a:bodyPr>
          <a:lstStyle/>
          <a:p>
            <a:pPr algn="l"/>
            <a:r>
              <a:rPr sz="1100" b="0" i="0">
                <a:solidFill>
                  <a:srgbClr val="1A237E"/>
                </a:solidFill>
                <a:latin typeface="Calibri"/>
              </a:rPr>
              <a:t>Veriler yalnızca güvenlik amacıyla işlenmeli, başka amaçlarla kullanılmamalı</a:t>
            </a:r>
          </a:p>
        </p:txBody>
      </p:sp>
      <p:sp>
        <p:nvSpPr>
          <p:cNvPr id="10" name="Rectangle 9"/>
          <p:cNvSpPr/>
          <p:nvPr/>
        </p:nvSpPr>
        <p:spPr>
          <a:xfrm>
            <a:off x="4155338" y="4297680"/>
            <a:ext cx="3606698"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28490" y="4325112"/>
            <a:ext cx="3460394" cy="384048"/>
          </a:xfrm>
          <a:prstGeom prst="rect">
            <a:avLst/>
          </a:prstGeom>
          <a:noFill/>
        </p:spPr>
        <p:txBody>
          <a:bodyPr wrap="square" lIns="0" tIns="0" rIns="0" bIns="0">
            <a:spAutoFit/>
          </a:bodyPr>
          <a:lstStyle/>
          <a:p>
            <a:pPr algn="l"/>
            <a:r>
              <a:rPr sz="1200" b="1" i="0">
                <a:solidFill>
                  <a:srgbClr val="FFFFFF"/>
                </a:solidFill>
                <a:latin typeface="Calibri"/>
              </a:rPr>
              <a:t>GDPR: Veri Minimizasyonu</a:t>
            </a:r>
          </a:p>
        </p:txBody>
      </p:sp>
      <p:sp>
        <p:nvSpPr>
          <p:cNvPr id="12" name="Rectangle 11"/>
          <p:cNvSpPr/>
          <p:nvPr/>
        </p:nvSpPr>
        <p:spPr>
          <a:xfrm>
            <a:off x="4155338" y="4782312"/>
            <a:ext cx="3606698" cy="1554480"/>
          </a:xfrm>
          <a:prstGeom prst="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46778" y="4846320"/>
            <a:ext cx="3423818" cy="1417320"/>
          </a:xfrm>
          <a:prstGeom prst="rect">
            <a:avLst/>
          </a:prstGeom>
          <a:noFill/>
        </p:spPr>
        <p:txBody>
          <a:bodyPr wrap="square" lIns="0" tIns="0" rIns="0" bIns="0">
            <a:spAutoFit/>
          </a:bodyPr>
          <a:lstStyle/>
          <a:p>
            <a:pPr algn="l"/>
            <a:r>
              <a:rPr sz="1100" b="0" i="0">
                <a:solidFill>
                  <a:srgbClr val="1A237E"/>
                </a:solidFill>
                <a:latin typeface="Calibri"/>
              </a:rPr>
              <a:t>Saldırı tespiti için zorunlu olmayan kişisel veriler toplanmamalı ve işlenmemeli</a:t>
            </a:r>
          </a:p>
        </p:txBody>
      </p:sp>
      <p:sp>
        <p:nvSpPr>
          <p:cNvPr id="14" name="Rectangle 13"/>
          <p:cNvSpPr/>
          <p:nvPr/>
        </p:nvSpPr>
        <p:spPr>
          <a:xfrm>
            <a:off x="7944916" y="4297680"/>
            <a:ext cx="3606698" cy="457200"/>
          </a:xfrm>
          <a:prstGeom prst="rect">
            <a:avLst/>
          </a:prstGeom>
          <a:solidFill>
            <a:srgbClr val="283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18068" y="4325112"/>
            <a:ext cx="3460394" cy="384048"/>
          </a:xfrm>
          <a:prstGeom prst="rect">
            <a:avLst/>
          </a:prstGeom>
          <a:noFill/>
        </p:spPr>
        <p:txBody>
          <a:bodyPr wrap="square" lIns="0" tIns="0" rIns="0" bIns="0">
            <a:spAutoFit/>
          </a:bodyPr>
          <a:lstStyle/>
          <a:p>
            <a:pPr algn="l"/>
            <a:r>
              <a:rPr sz="1200" b="1" i="0">
                <a:solidFill>
                  <a:srgbClr val="FFFFFF"/>
                </a:solidFill>
                <a:latin typeface="Calibri"/>
              </a:rPr>
              <a:t>GDPR: Orantılılık</a:t>
            </a:r>
          </a:p>
        </p:txBody>
      </p:sp>
      <p:sp>
        <p:nvSpPr>
          <p:cNvPr id="16" name="Rectangle 15"/>
          <p:cNvSpPr/>
          <p:nvPr/>
        </p:nvSpPr>
        <p:spPr>
          <a:xfrm>
            <a:off x="7944916" y="4782312"/>
            <a:ext cx="3606698" cy="1554480"/>
          </a:xfrm>
          <a:prstGeom prst="rect">
            <a:avLst/>
          </a:prstGeom>
          <a:solidFill>
            <a:srgbClr val="E3F2FD"/>
          </a:solidFill>
          <a:ln w="12700">
            <a:solidFill>
              <a:srgbClr val="2835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36356" y="4846320"/>
            <a:ext cx="3423818" cy="1417320"/>
          </a:xfrm>
          <a:prstGeom prst="rect">
            <a:avLst/>
          </a:prstGeom>
          <a:noFill/>
        </p:spPr>
        <p:txBody>
          <a:bodyPr wrap="square" lIns="0" tIns="0" rIns="0" bIns="0">
            <a:spAutoFit/>
          </a:bodyPr>
          <a:lstStyle/>
          <a:p>
            <a:pPr algn="l"/>
            <a:r>
              <a:rPr sz="1100" b="0" i="0">
                <a:solidFill>
                  <a:srgbClr val="1A237E"/>
                </a:solidFill>
                <a:latin typeface="Calibri"/>
              </a:rPr>
              <a:t>İzleme kapsamı ve yoğunluğu, mevcut tehditle orantılı olmalı; aşırı izlemeden kaçınılmalı</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73152"/>
            <a:ext cx="11643055" cy="630936"/>
          </a:xfrm>
          <a:prstGeom prst="rect">
            <a:avLst/>
          </a:prstGeom>
          <a:noFill/>
        </p:spPr>
        <p:txBody>
          <a:bodyPr wrap="square" lIns="0" tIns="0" rIns="0" bIns="0">
            <a:spAutoFit/>
          </a:bodyPr>
          <a:lstStyle/>
          <a:p>
            <a:pPr algn="l"/>
            <a:r>
              <a:rPr sz="2600" b="1" i="0">
                <a:solidFill>
                  <a:srgbClr val="FFFFFF"/>
                </a:solidFill>
                <a:latin typeface="Calibri"/>
              </a:rPr>
              <a:t>Etik Çerçeve: İki Taraflı Risk Dengesi</a:t>
            </a:r>
          </a:p>
        </p:txBody>
      </p:sp>
      <p:sp>
        <p:nvSpPr>
          <p:cNvPr id="4" name="TextBox 3"/>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13</a:t>
            </a:r>
          </a:p>
        </p:txBody>
      </p:sp>
      <p:sp>
        <p:nvSpPr>
          <p:cNvPr id="5" name="Rectangle 4"/>
          <p:cNvSpPr/>
          <p:nvPr/>
        </p:nvSpPr>
        <p:spPr>
          <a:xfrm>
            <a:off x="365760" y="960120"/>
            <a:ext cx="4023360" cy="2926080"/>
          </a:xfrm>
          <a:prstGeom prst="rect">
            <a:avLst/>
          </a:prstGeom>
          <a:solidFill>
            <a:srgbClr val="FFEBEE"/>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051560"/>
            <a:ext cx="3749039" cy="640080"/>
          </a:xfrm>
          <a:prstGeom prst="rect">
            <a:avLst/>
          </a:prstGeom>
          <a:noFill/>
        </p:spPr>
        <p:txBody>
          <a:bodyPr wrap="square" lIns="0" tIns="0" rIns="0" bIns="0">
            <a:spAutoFit/>
          </a:bodyPr>
          <a:lstStyle/>
          <a:p>
            <a:pPr algn="ctr"/>
            <a:r>
              <a:rPr sz="1600" b="1" i="0">
                <a:solidFill>
                  <a:srgbClr val="C62828"/>
                </a:solidFill>
                <a:latin typeface="Calibri"/>
              </a:rPr>
              <a:t>RECALL'U ARTIR
(Daha az FN)</a:t>
            </a:r>
          </a:p>
        </p:txBody>
      </p:sp>
      <p:sp>
        <p:nvSpPr>
          <p:cNvPr id="7" name="TextBox 6"/>
          <p:cNvSpPr txBox="1"/>
          <p:nvPr/>
        </p:nvSpPr>
        <p:spPr>
          <a:xfrm>
            <a:off x="548640" y="1783080"/>
            <a:ext cx="3657600" cy="2011680"/>
          </a:xfrm>
          <a:prstGeom prst="rect">
            <a:avLst/>
          </a:prstGeom>
          <a:noFill/>
        </p:spPr>
        <p:txBody>
          <a:bodyPr wrap="square" lIns="45720" tIns="27432" rIns="45720" bIns="27432">
            <a:spAutoFit/>
          </a:bodyPr>
          <a:lstStyle/>
          <a:p>
            <a:pPr>
              <a:spcAft>
                <a:spcPts val="600"/>
              </a:spcAft>
            </a:pPr>
            <a:r>
              <a:rPr sz="1200">
                <a:solidFill>
                  <a:srgbClr val="C62828"/>
                </a:solidFill>
                <a:latin typeface="Calibri"/>
              </a:rPr>
              <a:t>▸  Daha az saldırı kaçırılır</a:t>
            </a:r>
          </a:p>
          <a:p>
            <a:pPr>
              <a:spcAft>
                <a:spcPts val="600"/>
              </a:spcAft>
            </a:pPr>
            <a:r>
              <a:rPr sz="1200">
                <a:solidFill>
                  <a:srgbClr val="C62828"/>
                </a:solidFill>
                <a:latin typeface="Calibri"/>
              </a:rPr>
              <a:t>▸  Daha fazla yanlış alarm üretilir</a:t>
            </a:r>
          </a:p>
          <a:p>
            <a:pPr>
              <a:spcAft>
                <a:spcPts val="600"/>
              </a:spcAft>
            </a:pPr>
            <a:r>
              <a:rPr sz="1200">
                <a:solidFill>
                  <a:srgbClr val="C62828"/>
                </a:solidFill>
                <a:latin typeface="Calibri"/>
              </a:rPr>
              <a:t>▸  Masum kullanıcılar etkilenir</a:t>
            </a:r>
          </a:p>
          <a:p>
            <a:pPr>
              <a:spcAft>
                <a:spcPts val="600"/>
              </a:spcAft>
            </a:pPr>
            <a:r>
              <a:rPr sz="1200">
                <a:solidFill>
                  <a:srgbClr val="C62828"/>
                </a:solidFill>
                <a:latin typeface="Calibri"/>
              </a:rPr>
              <a:t>▸  Mahremiyet / adalet riski artar</a:t>
            </a:r>
          </a:p>
        </p:txBody>
      </p:sp>
      <p:sp>
        <p:nvSpPr>
          <p:cNvPr id="8" name="Rectangle 7"/>
          <p:cNvSpPr/>
          <p:nvPr/>
        </p:nvSpPr>
        <p:spPr>
          <a:xfrm>
            <a:off x="4636008" y="1280160"/>
            <a:ext cx="2926080" cy="24688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81728" y="1371600"/>
            <a:ext cx="2834640" cy="2286000"/>
          </a:xfrm>
          <a:prstGeom prst="rect">
            <a:avLst/>
          </a:prstGeom>
          <a:noFill/>
        </p:spPr>
        <p:txBody>
          <a:bodyPr wrap="square" lIns="0" tIns="0" rIns="0" bIns="0">
            <a:spAutoFit/>
          </a:bodyPr>
          <a:lstStyle/>
          <a:p>
            <a:pPr algn="ctr"/>
            <a:r>
              <a:rPr sz="1400" b="1" i="0">
                <a:solidFill>
                  <a:srgbClr val="FFFFFF"/>
                </a:solidFill>
                <a:latin typeface="Calibri"/>
              </a:rPr>
              <a:t>TRADE-OFF
Eşik değeri
(threshold)
ayarlanarak
denge kurulur</a:t>
            </a:r>
          </a:p>
        </p:txBody>
      </p:sp>
      <p:sp>
        <p:nvSpPr>
          <p:cNvPr id="10" name="Rectangle 9"/>
          <p:cNvSpPr/>
          <p:nvPr/>
        </p:nvSpPr>
        <p:spPr>
          <a:xfrm>
            <a:off x="7799831" y="960120"/>
            <a:ext cx="4023360" cy="2926080"/>
          </a:xfrm>
          <a:prstGeom prst="rect">
            <a:avLst/>
          </a:prstGeom>
          <a:solidFill>
            <a:srgbClr val="FFF3E0"/>
          </a:solidFill>
          <a:ln w="254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36992" y="1051560"/>
            <a:ext cx="3749039" cy="640080"/>
          </a:xfrm>
          <a:prstGeom prst="rect">
            <a:avLst/>
          </a:prstGeom>
          <a:noFill/>
        </p:spPr>
        <p:txBody>
          <a:bodyPr wrap="square" lIns="0" tIns="0" rIns="0" bIns="0">
            <a:spAutoFit/>
          </a:bodyPr>
          <a:lstStyle/>
          <a:p>
            <a:pPr algn="ctr"/>
            <a:r>
              <a:rPr sz="1600" b="1" i="0">
                <a:solidFill>
                  <a:srgbClr val="E65C00"/>
                </a:solidFill>
                <a:latin typeface="Calibri"/>
              </a:rPr>
              <a:t>PRECISION'I ARTIR
(Daha az FP)</a:t>
            </a:r>
          </a:p>
        </p:txBody>
      </p:sp>
      <p:sp>
        <p:nvSpPr>
          <p:cNvPr id="12" name="TextBox 11"/>
          <p:cNvSpPr txBox="1"/>
          <p:nvPr/>
        </p:nvSpPr>
        <p:spPr>
          <a:xfrm>
            <a:off x="7936992" y="1783080"/>
            <a:ext cx="3749039" cy="2011680"/>
          </a:xfrm>
          <a:prstGeom prst="rect">
            <a:avLst/>
          </a:prstGeom>
          <a:noFill/>
        </p:spPr>
        <p:txBody>
          <a:bodyPr wrap="square" lIns="45720" tIns="27432" rIns="45720" bIns="27432">
            <a:spAutoFit/>
          </a:bodyPr>
          <a:lstStyle/>
          <a:p>
            <a:pPr>
              <a:spcAft>
                <a:spcPts val="600"/>
              </a:spcAft>
            </a:pPr>
            <a:r>
              <a:rPr sz="1200">
                <a:solidFill>
                  <a:srgbClr val="E65C00"/>
                </a:solidFill>
                <a:latin typeface="Calibri"/>
              </a:rPr>
              <a:t>▸  Daha az yanlış alarm üretilir</a:t>
            </a:r>
          </a:p>
          <a:p>
            <a:pPr>
              <a:spcAft>
                <a:spcPts val="600"/>
              </a:spcAft>
            </a:pPr>
            <a:r>
              <a:rPr sz="1200">
                <a:solidFill>
                  <a:srgbClr val="E65C00"/>
                </a:solidFill>
                <a:latin typeface="Calibri"/>
              </a:rPr>
              <a:t>▸  Daha fazla saldırı kaçırılır</a:t>
            </a:r>
          </a:p>
          <a:p>
            <a:pPr>
              <a:spcAft>
                <a:spcPts val="600"/>
              </a:spcAft>
            </a:pPr>
            <a:r>
              <a:rPr sz="1200">
                <a:solidFill>
                  <a:srgbClr val="E65C00"/>
                </a:solidFill>
                <a:latin typeface="Calibri"/>
              </a:rPr>
              <a:t>▸  Güvenlik açığı riski artar</a:t>
            </a:r>
          </a:p>
          <a:p>
            <a:pPr>
              <a:spcAft>
                <a:spcPts val="600"/>
              </a:spcAft>
            </a:pPr>
            <a:r>
              <a:rPr sz="1200">
                <a:solidFill>
                  <a:srgbClr val="E65C00"/>
                </a:solidFill>
                <a:latin typeface="Calibri"/>
              </a:rPr>
              <a:t>▸  Ağ ihlali tehlikesi büyür</a:t>
            </a:r>
          </a:p>
        </p:txBody>
      </p:sp>
      <p:sp>
        <p:nvSpPr>
          <p:cNvPr id="13" name="Rectangle 12"/>
          <p:cNvSpPr/>
          <p:nvPr/>
        </p:nvSpPr>
        <p:spPr>
          <a:xfrm>
            <a:off x="365760" y="4023359"/>
            <a:ext cx="5547207" cy="2468880"/>
          </a:xfrm>
          <a:prstGeom prst="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4069080"/>
            <a:ext cx="5455767" cy="347472"/>
          </a:xfrm>
          <a:prstGeom prst="rect">
            <a:avLst/>
          </a:prstGeom>
          <a:noFill/>
        </p:spPr>
        <p:txBody>
          <a:bodyPr wrap="square" lIns="0" tIns="0" rIns="0" bIns="0">
            <a:spAutoFit/>
          </a:bodyPr>
          <a:lstStyle/>
          <a:p>
            <a:pPr algn="l"/>
            <a:r>
              <a:rPr sz="1300" b="1" i="0">
                <a:solidFill>
                  <a:srgbClr val="1565C0"/>
                </a:solidFill>
                <a:latin typeface="Calibri"/>
              </a:rPr>
              <a:t>Teknik Boyut</a:t>
            </a:r>
          </a:p>
        </p:txBody>
      </p:sp>
      <p:sp>
        <p:nvSpPr>
          <p:cNvPr id="15" name="TextBox 14"/>
          <p:cNvSpPr txBox="1"/>
          <p:nvPr/>
        </p:nvSpPr>
        <p:spPr>
          <a:xfrm>
            <a:off x="502920" y="4453127"/>
            <a:ext cx="5455767" cy="1920240"/>
          </a:xfrm>
          <a:prstGeom prst="rect">
            <a:avLst/>
          </a:prstGeom>
          <a:noFill/>
        </p:spPr>
        <p:txBody>
          <a:bodyPr wrap="square" lIns="0" tIns="0" rIns="0" bIns="0">
            <a:spAutoFit/>
          </a:bodyPr>
          <a:lstStyle/>
          <a:p>
            <a:pPr algn="l"/>
            <a:r>
              <a:rPr sz="1200" b="0" i="0">
                <a:solidFill>
                  <a:srgbClr val="1A237E"/>
                </a:solidFill>
                <a:latin typeface="Calibri"/>
              </a:rPr>
              <a:t>Eşik değeri (threshold) ayarlanarak precision-recall dengesi değiştirilebilir. Yüksek güvenlik ortamlarında recall önceliklendirilmeli; kullanıcı gizliliğinin ön planda olduğu ortamlarda ise precision artırılmalıdır.</a:t>
            </a:r>
          </a:p>
        </p:txBody>
      </p:sp>
      <p:sp>
        <p:nvSpPr>
          <p:cNvPr id="16" name="Rectangle 15"/>
          <p:cNvSpPr/>
          <p:nvPr/>
        </p:nvSpPr>
        <p:spPr>
          <a:xfrm>
            <a:off x="6095847" y="4023359"/>
            <a:ext cx="5547207" cy="2468880"/>
          </a:xfrm>
          <a:prstGeom prst="rect">
            <a:avLst/>
          </a:prstGeom>
          <a:solidFill>
            <a:srgbClr val="F3E5F5"/>
          </a:solidFill>
          <a:ln w="12700">
            <a:solidFill>
              <a:srgbClr val="4A14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33007" y="4069080"/>
            <a:ext cx="5455767" cy="347472"/>
          </a:xfrm>
          <a:prstGeom prst="rect">
            <a:avLst/>
          </a:prstGeom>
          <a:noFill/>
        </p:spPr>
        <p:txBody>
          <a:bodyPr wrap="square" lIns="0" tIns="0" rIns="0" bIns="0">
            <a:spAutoFit/>
          </a:bodyPr>
          <a:lstStyle/>
          <a:p>
            <a:pPr algn="l"/>
            <a:r>
              <a:rPr sz="1300" b="1" i="0">
                <a:solidFill>
                  <a:srgbClr val="4A148C"/>
                </a:solidFill>
                <a:latin typeface="Calibri"/>
              </a:rPr>
              <a:t>Etik Boyut</a:t>
            </a:r>
          </a:p>
        </p:txBody>
      </p:sp>
      <p:sp>
        <p:nvSpPr>
          <p:cNvPr id="18" name="TextBox 17"/>
          <p:cNvSpPr txBox="1"/>
          <p:nvPr/>
        </p:nvSpPr>
        <p:spPr>
          <a:xfrm>
            <a:off x="6233007" y="4453127"/>
            <a:ext cx="5455767" cy="1920240"/>
          </a:xfrm>
          <a:prstGeom prst="rect">
            <a:avLst/>
          </a:prstGeom>
          <a:noFill/>
        </p:spPr>
        <p:txBody>
          <a:bodyPr wrap="square" lIns="0" tIns="0" rIns="0" bIns="0">
            <a:spAutoFit/>
          </a:bodyPr>
          <a:lstStyle/>
          <a:p>
            <a:pPr algn="l"/>
            <a:r>
              <a:rPr sz="1200" b="0" i="0">
                <a:solidFill>
                  <a:srgbClr val="1A237E"/>
                </a:solidFill>
                <a:latin typeface="Calibri"/>
              </a:rPr>
              <a:t>Otomatik karar sistemleri şeffaflık, hesap verebilirlik ve açıklanabilirlik (XAI) gerektirir. Her yanlış sınıflandırma, somut bir insanı etkiler; bu nedenle model kararları açıklanabilir olmalıdır.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37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175" cy="749808"/>
          </a:xfrm>
          <a:prstGeom prst="rect">
            <a:avLst/>
          </a:prstGeom>
          <a:noFill/>
        </p:spPr>
        <p:txBody>
          <a:bodyPr wrap="square" lIns="0" tIns="0" rIns="0" bIns="0">
            <a:spAutoFit/>
          </a:bodyPr>
          <a:lstStyle/>
          <a:p>
            <a:pPr algn="l"/>
            <a:r>
              <a:rPr sz="2800" b="1" i="0">
                <a:solidFill>
                  <a:srgbClr val="FFFFFF"/>
                </a:solidFill>
                <a:latin typeface="Calibri"/>
              </a:rPr>
              <a:t>Sonuç ve Öneriler</a:t>
            </a:r>
          </a:p>
        </p:txBody>
      </p:sp>
      <p:sp>
        <p:nvSpPr>
          <p:cNvPr id="4" name="Rectangle 3"/>
          <p:cNvSpPr/>
          <p:nvPr/>
        </p:nvSpPr>
        <p:spPr>
          <a:xfrm>
            <a:off x="365760" y="1097280"/>
            <a:ext cx="5547207" cy="49377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70432"/>
            <a:ext cx="5272887" cy="411480"/>
          </a:xfrm>
          <a:prstGeom prst="rect">
            <a:avLst/>
          </a:prstGeom>
          <a:noFill/>
        </p:spPr>
        <p:txBody>
          <a:bodyPr wrap="square" lIns="0" tIns="0" rIns="0" bIns="0">
            <a:spAutoFit/>
          </a:bodyPr>
          <a:lstStyle/>
          <a:p>
            <a:pPr algn="l"/>
            <a:r>
              <a:rPr sz="1500" b="1" i="0">
                <a:solidFill>
                  <a:srgbClr val="90CAF9"/>
                </a:solidFill>
                <a:latin typeface="Calibri"/>
              </a:rPr>
              <a:t>BULGULAR</a:t>
            </a:r>
          </a:p>
        </p:txBody>
      </p:sp>
      <p:sp>
        <p:nvSpPr>
          <p:cNvPr id="6" name="TextBox 5"/>
          <p:cNvSpPr txBox="1"/>
          <p:nvPr/>
        </p:nvSpPr>
        <p:spPr>
          <a:xfrm>
            <a:off x="502920" y="1627632"/>
            <a:ext cx="320040" cy="548640"/>
          </a:xfrm>
          <a:prstGeom prst="rect">
            <a:avLst/>
          </a:prstGeom>
          <a:noFill/>
        </p:spPr>
        <p:txBody>
          <a:bodyPr wrap="square" lIns="0" tIns="0" rIns="0" bIns="0">
            <a:spAutoFit/>
          </a:bodyPr>
          <a:lstStyle/>
          <a:p>
            <a:pPr algn="ctr"/>
            <a:r>
              <a:rPr sz="1800" b="1" i="0">
                <a:solidFill>
                  <a:srgbClr val="E8F5E9"/>
                </a:solidFill>
                <a:latin typeface="Calibri"/>
              </a:rPr>
              <a:t>✓</a:t>
            </a:r>
          </a:p>
        </p:txBody>
      </p:sp>
      <p:sp>
        <p:nvSpPr>
          <p:cNvPr id="7" name="TextBox 6"/>
          <p:cNvSpPr txBox="1"/>
          <p:nvPr/>
        </p:nvSpPr>
        <p:spPr>
          <a:xfrm>
            <a:off x="868680" y="1673352"/>
            <a:ext cx="4769967" cy="594360"/>
          </a:xfrm>
          <a:prstGeom prst="rect">
            <a:avLst/>
          </a:prstGeom>
          <a:noFill/>
        </p:spPr>
        <p:txBody>
          <a:bodyPr wrap="square" lIns="0" tIns="0" rIns="0" bIns="0">
            <a:spAutoFit/>
          </a:bodyPr>
          <a:lstStyle/>
          <a:p>
            <a:pPr algn="l"/>
            <a:r>
              <a:rPr sz="1300" b="0" i="0">
                <a:solidFill>
                  <a:srgbClr val="FFFFFF"/>
                </a:solidFill>
                <a:latin typeface="Calibri"/>
              </a:rPr>
              <a:t>Random Forest %90.13 doğrulukla güçlü performans sergiledi</a:t>
            </a:r>
          </a:p>
        </p:txBody>
      </p:sp>
      <p:sp>
        <p:nvSpPr>
          <p:cNvPr id="8" name="TextBox 7"/>
          <p:cNvSpPr txBox="1"/>
          <p:nvPr/>
        </p:nvSpPr>
        <p:spPr>
          <a:xfrm>
            <a:off x="502920" y="2404872"/>
            <a:ext cx="320040" cy="548640"/>
          </a:xfrm>
          <a:prstGeom prst="rect">
            <a:avLst/>
          </a:prstGeom>
          <a:noFill/>
        </p:spPr>
        <p:txBody>
          <a:bodyPr wrap="square" lIns="0" tIns="0" rIns="0" bIns="0">
            <a:spAutoFit/>
          </a:bodyPr>
          <a:lstStyle/>
          <a:p>
            <a:pPr algn="ctr"/>
            <a:r>
              <a:rPr sz="1800" b="1" i="0">
                <a:solidFill>
                  <a:srgbClr val="E8F5E9"/>
                </a:solidFill>
                <a:latin typeface="Calibri"/>
              </a:rPr>
              <a:t>✓</a:t>
            </a:r>
          </a:p>
        </p:txBody>
      </p:sp>
      <p:sp>
        <p:nvSpPr>
          <p:cNvPr id="9" name="TextBox 8"/>
          <p:cNvSpPr txBox="1"/>
          <p:nvPr/>
        </p:nvSpPr>
        <p:spPr>
          <a:xfrm>
            <a:off x="868680" y="2450591"/>
            <a:ext cx="4769967" cy="594360"/>
          </a:xfrm>
          <a:prstGeom prst="rect">
            <a:avLst/>
          </a:prstGeom>
          <a:noFill/>
        </p:spPr>
        <p:txBody>
          <a:bodyPr wrap="square" lIns="0" tIns="0" rIns="0" bIns="0">
            <a:spAutoFit/>
          </a:bodyPr>
          <a:lstStyle/>
          <a:p>
            <a:pPr algn="l"/>
            <a:r>
              <a:rPr sz="1300" b="0" i="0">
                <a:solidFill>
                  <a:srgbClr val="FFFFFF"/>
                </a:solidFill>
                <a:latin typeface="Calibri"/>
              </a:rPr>
              <a:t>ROC-AUC: 0.9864 — yüksek ayrıştırma gücü elde edildi</a:t>
            </a:r>
          </a:p>
        </p:txBody>
      </p:sp>
      <p:sp>
        <p:nvSpPr>
          <p:cNvPr id="10" name="TextBox 9"/>
          <p:cNvSpPr txBox="1"/>
          <p:nvPr/>
        </p:nvSpPr>
        <p:spPr>
          <a:xfrm>
            <a:off x="502920" y="3182112"/>
            <a:ext cx="320040" cy="548640"/>
          </a:xfrm>
          <a:prstGeom prst="rect">
            <a:avLst/>
          </a:prstGeom>
          <a:noFill/>
        </p:spPr>
        <p:txBody>
          <a:bodyPr wrap="square" lIns="0" tIns="0" rIns="0" bIns="0">
            <a:spAutoFit/>
          </a:bodyPr>
          <a:lstStyle/>
          <a:p>
            <a:pPr algn="ctr"/>
            <a:r>
              <a:rPr sz="1800" b="1" i="0">
                <a:solidFill>
                  <a:srgbClr val="E8F5E9"/>
                </a:solidFill>
                <a:latin typeface="Calibri"/>
              </a:rPr>
              <a:t>✓</a:t>
            </a:r>
          </a:p>
        </p:txBody>
      </p:sp>
      <p:sp>
        <p:nvSpPr>
          <p:cNvPr id="11" name="TextBox 10"/>
          <p:cNvSpPr txBox="1"/>
          <p:nvPr/>
        </p:nvSpPr>
        <p:spPr>
          <a:xfrm>
            <a:off x="868680" y="3227832"/>
            <a:ext cx="4769967" cy="594360"/>
          </a:xfrm>
          <a:prstGeom prst="rect">
            <a:avLst/>
          </a:prstGeom>
          <a:noFill/>
        </p:spPr>
        <p:txBody>
          <a:bodyPr wrap="square" lIns="0" tIns="0" rIns="0" bIns="0">
            <a:spAutoFit/>
          </a:bodyPr>
          <a:lstStyle/>
          <a:p>
            <a:pPr algn="l"/>
            <a:r>
              <a:rPr sz="1300" b="0" i="0">
                <a:solidFill>
                  <a:srgbClr val="FFFFFF"/>
                </a:solidFill>
                <a:latin typeface="Calibri"/>
              </a:rPr>
              <a:t>103,059 saldırı başarıyla tespit edildi</a:t>
            </a:r>
          </a:p>
        </p:txBody>
      </p:sp>
      <p:sp>
        <p:nvSpPr>
          <p:cNvPr id="12" name="TextBox 11"/>
          <p:cNvSpPr txBox="1"/>
          <p:nvPr/>
        </p:nvSpPr>
        <p:spPr>
          <a:xfrm>
            <a:off x="502920" y="3959352"/>
            <a:ext cx="320040" cy="548640"/>
          </a:xfrm>
          <a:prstGeom prst="rect">
            <a:avLst/>
          </a:prstGeom>
          <a:noFill/>
        </p:spPr>
        <p:txBody>
          <a:bodyPr wrap="square" lIns="0" tIns="0" rIns="0" bIns="0">
            <a:spAutoFit/>
          </a:bodyPr>
          <a:lstStyle/>
          <a:p>
            <a:pPr algn="ctr"/>
            <a:r>
              <a:rPr sz="1800" b="1" i="0">
                <a:solidFill>
                  <a:srgbClr val="FFCC80"/>
                </a:solidFill>
                <a:latin typeface="Calibri"/>
              </a:rPr>
              <a:t>⚠</a:t>
            </a:r>
          </a:p>
        </p:txBody>
      </p:sp>
      <p:sp>
        <p:nvSpPr>
          <p:cNvPr id="13" name="TextBox 12"/>
          <p:cNvSpPr txBox="1"/>
          <p:nvPr/>
        </p:nvSpPr>
        <p:spPr>
          <a:xfrm>
            <a:off x="868680" y="4005072"/>
            <a:ext cx="4769967" cy="594360"/>
          </a:xfrm>
          <a:prstGeom prst="rect">
            <a:avLst/>
          </a:prstGeom>
          <a:noFill/>
        </p:spPr>
        <p:txBody>
          <a:bodyPr wrap="square" lIns="0" tIns="0" rIns="0" bIns="0">
            <a:spAutoFit/>
          </a:bodyPr>
          <a:lstStyle/>
          <a:p>
            <a:pPr algn="l"/>
            <a:r>
              <a:rPr sz="1300" b="0" i="0">
                <a:solidFill>
                  <a:srgbClr val="FFFFFF"/>
                </a:solidFill>
                <a:latin typeface="Calibri"/>
              </a:rPr>
              <a:t>16,282 saldırı kaçırıldı  →  Güvenlik riski</a:t>
            </a:r>
          </a:p>
        </p:txBody>
      </p:sp>
      <p:sp>
        <p:nvSpPr>
          <p:cNvPr id="14" name="TextBox 13"/>
          <p:cNvSpPr txBox="1"/>
          <p:nvPr/>
        </p:nvSpPr>
        <p:spPr>
          <a:xfrm>
            <a:off x="502920" y="4736592"/>
            <a:ext cx="320040" cy="548640"/>
          </a:xfrm>
          <a:prstGeom prst="rect">
            <a:avLst/>
          </a:prstGeom>
          <a:noFill/>
        </p:spPr>
        <p:txBody>
          <a:bodyPr wrap="square" lIns="0" tIns="0" rIns="0" bIns="0">
            <a:spAutoFit/>
          </a:bodyPr>
          <a:lstStyle/>
          <a:p>
            <a:pPr algn="ctr"/>
            <a:r>
              <a:rPr sz="1800" b="1" i="0">
                <a:solidFill>
                  <a:srgbClr val="FFCC80"/>
                </a:solidFill>
                <a:latin typeface="Calibri"/>
              </a:rPr>
              <a:t>⚠</a:t>
            </a:r>
          </a:p>
        </p:txBody>
      </p:sp>
      <p:sp>
        <p:nvSpPr>
          <p:cNvPr id="15" name="TextBox 14"/>
          <p:cNvSpPr txBox="1"/>
          <p:nvPr/>
        </p:nvSpPr>
        <p:spPr>
          <a:xfrm>
            <a:off x="868680" y="4782312"/>
            <a:ext cx="4769967" cy="594360"/>
          </a:xfrm>
          <a:prstGeom prst="rect">
            <a:avLst/>
          </a:prstGeom>
          <a:noFill/>
        </p:spPr>
        <p:txBody>
          <a:bodyPr wrap="square" lIns="0" tIns="0" rIns="0" bIns="0">
            <a:spAutoFit/>
          </a:bodyPr>
          <a:lstStyle/>
          <a:p>
            <a:pPr algn="l"/>
            <a:r>
              <a:rPr sz="1300" b="0" i="0">
                <a:solidFill>
                  <a:srgbClr val="FFFFFF"/>
                </a:solidFill>
                <a:latin typeface="Calibri"/>
              </a:rPr>
              <a:t>1,023 kullanıcı hatalı etiketlendi  →  Etik risk</a:t>
            </a:r>
          </a:p>
        </p:txBody>
      </p:sp>
      <p:sp>
        <p:nvSpPr>
          <p:cNvPr id="16" name="Rectangle 15"/>
          <p:cNvSpPr/>
          <p:nvPr/>
        </p:nvSpPr>
        <p:spPr>
          <a:xfrm>
            <a:off x="6095847" y="1097280"/>
            <a:ext cx="5547207" cy="4937760"/>
          </a:xfrm>
          <a:prstGeom prst="rect">
            <a:avLst/>
          </a:prstGeom>
          <a:solidFill>
            <a:srgbClr val="1E2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33007" y="1170432"/>
            <a:ext cx="5272887" cy="411480"/>
          </a:xfrm>
          <a:prstGeom prst="rect">
            <a:avLst/>
          </a:prstGeom>
          <a:noFill/>
        </p:spPr>
        <p:txBody>
          <a:bodyPr wrap="square" lIns="0" tIns="0" rIns="0" bIns="0">
            <a:spAutoFit/>
          </a:bodyPr>
          <a:lstStyle/>
          <a:p>
            <a:pPr algn="l"/>
            <a:r>
              <a:rPr sz="1500" b="1" i="0">
                <a:solidFill>
                  <a:srgbClr val="90CAF9"/>
                </a:solidFill>
                <a:latin typeface="Calibri"/>
              </a:rPr>
              <a:t>ÖNERİLER</a:t>
            </a:r>
          </a:p>
        </p:txBody>
      </p:sp>
      <p:sp>
        <p:nvSpPr>
          <p:cNvPr id="18" name="TextBox 17"/>
          <p:cNvSpPr txBox="1"/>
          <p:nvPr/>
        </p:nvSpPr>
        <p:spPr>
          <a:xfrm>
            <a:off x="6233007" y="1627632"/>
            <a:ext cx="5090007" cy="658368"/>
          </a:xfrm>
          <a:prstGeom prst="rect">
            <a:avLst/>
          </a:prstGeom>
          <a:noFill/>
        </p:spPr>
        <p:txBody>
          <a:bodyPr wrap="square" lIns="0" tIns="0" rIns="0" bIns="0">
            <a:spAutoFit/>
          </a:bodyPr>
          <a:lstStyle/>
          <a:p>
            <a:pPr algn="l"/>
            <a:r>
              <a:rPr sz="1300" b="0" i="0">
                <a:solidFill>
                  <a:srgbClr val="FFFFFF"/>
                </a:solidFill>
                <a:latin typeface="Calibri"/>
              </a:rPr>
              <a:t>→  Eşik değeri bağlama göre optimize edilmeli</a:t>
            </a:r>
          </a:p>
        </p:txBody>
      </p:sp>
      <p:sp>
        <p:nvSpPr>
          <p:cNvPr id="19" name="TextBox 18"/>
          <p:cNvSpPr txBox="1"/>
          <p:nvPr/>
        </p:nvSpPr>
        <p:spPr>
          <a:xfrm>
            <a:off x="6233007" y="2377440"/>
            <a:ext cx="5090007" cy="658368"/>
          </a:xfrm>
          <a:prstGeom prst="rect">
            <a:avLst/>
          </a:prstGeom>
          <a:noFill/>
        </p:spPr>
        <p:txBody>
          <a:bodyPr wrap="square" lIns="0" tIns="0" rIns="0" bIns="0">
            <a:spAutoFit/>
          </a:bodyPr>
          <a:lstStyle/>
          <a:p>
            <a:pPr algn="l"/>
            <a:r>
              <a:rPr sz="1300" b="0" i="0">
                <a:solidFill>
                  <a:srgbClr val="FFFFFF"/>
                </a:solidFill>
                <a:latin typeface="Calibri"/>
              </a:rPr>
              <a:t>→  Veri minimizasyonu prensibi uygulanmalı</a:t>
            </a:r>
          </a:p>
        </p:txBody>
      </p:sp>
      <p:sp>
        <p:nvSpPr>
          <p:cNvPr id="20" name="TextBox 19"/>
          <p:cNvSpPr txBox="1"/>
          <p:nvPr/>
        </p:nvSpPr>
        <p:spPr>
          <a:xfrm>
            <a:off x="6233007" y="3127248"/>
            <a:ext cx="5090007" cy="658368"/>
          </a:xfrm>
          <a:prstGeom prst="rect">
            <a:avLst/>
          </a:prstGeom>
          <a:noFill/>
        </p:spPr>
        <p:txBody>
          <a:bodyPr wrap="square" lIns="0" tIns="0" rIns="0" bIns="0">
            <a:spAutoFit/>
          </a:bodyPr>
          <a:lstStyle/>
          <a:p>
            <a:pPr algn="l"/>
            <a:r>
              <a:rPr sz="1300" b="0" i="0">
                <a:solidFill>
                  <a:srgbClr val="FFFFFF"/>
                </a:solidFill>
                <a:latin typeface="Calibri"/>
              </a:rPr>
              <a:t>→  IP adresleri anonimleştirilmeli</a:t>
            </a:r>
          </a:p>
        </p:txBody>
      </p:sp>
      <p:sp>
        <p:nvSpPr>
          <p:cNvPr id="21" name="TextBox 20"/>
          <p:cNvSpPr txBox="1"/>
          <p:nvPr/>
        </p:nvSpPr>
        <p:spPr>
          <a:xfrm>
            <a:off x="6233007" y="3877056"/>
            <a:ext cx="5090007" cy="658368"/>
          </a:xfrm>
          <a:prstGeom prst="rect">
            <a:avLst/>
          </a:prstGeom>
          <a:noFill/>
        </p:spPr>
        <p:txBody>
          <a:bodyPr wrap="square" lIns="0" tIns="0" rIns="0" bIns="0">
            <a:spAutoFit/>
          </a:bodyPr>
          <a:lstStyle/>
          <a:p>
            <a:pPr algn="l"/>
            <a:r>
              <a:rPr sz="1300" b="0" i="0">
                <a:solidFill>
                  <a:srgbClr val="FFFFFF"/>
                </a:solidFill>
                <a:latin typeface="Calibri"/>
              </a:rPr>
              <a:t>→  Model kararları açıklanabilir olmalı (XAI)</a:t>
            </a:r>
          </a:p>
        </p:txBody>
      </p:sp>
      <p:sp>
        <p:nvSpPr>
          <p:cNvPr id="22" name="TextBox 21"/>
          <p:cNvSpPr txBox="1"/>
          <p:nvPr/>
        </p:nvSpPr>
        <p:spPr>
          <a:xfrm>
            <a:off x="6233007" y="4626864"/>
            <a:ext cx="5090007" cy="658368"/>
          </a:xfrm>
          <a:prstGeom prst="rect">
            <a:avLst/>
          </a:prstGeom>
          <a:noFill/>
        </p:spPr>
        <p:txBody>
          <a:bodyPr wrap="square" lIns="0" tIns="0" rIns="0" bIns="0">
            <a:spAutoFit/>
          </a:bodyPr>
          <a:lstStyle/>
          <a:p>
            <a:pPr algn="l"/>
            <a:r>
              <a:rPr sz="1300" b="0" i="0">
                <a:solidFill>
                  <a:srgbClr val="FFFFFF"/>
                </a:solidFill>
                <a:latin typeface="Calibri"/>
              </a:rPr>
              <a:t>→  Periyodik denetim ve model güncellemesi yapılmalı</a:t>
            </a:r>
          </a:p>
        </p:txBody>
      </p:sp>
      <p:sp>
        <p:nvSpPr>
          <p:cNvPr id="23" name="TextBox 22"/>
          <p:cNvSpPr txBox="1"/>
          <p:nvPr/>
        </p:nvSpPr>
        <p:spPr>
          <a:xfrm>
            <a:off x="6233007" y="5376672"/>
            <a:ext cx="5090007" cy="658368"/>
          </a:xfrm>
          <a:prstGeom prst="rect">
            <a:avLst/>
          </a:prstGeom>
          <a:noFill/>
        </p:spPr>
        <p:txBody>
          <a:bodyPr wrap="square" lIns="0" tIns="0" rIns="0" bIns="0">
            <a:spAutoFit/>
          </a:bodyPr>
          <a:lstStyle/>
          <a:p>
            <a:pPr algn="l"/>
            <a:r>
              <a:rPr sz="1300" b="0" i="0">
                <a:solidFill>
                  <a:srgbClr val="FFFFFF"/>
                </a:solidFill>
                <a:latin typeface="Calibri"/>
              </a:rPr>
              <a:t>→  Etik gözetim mekanizması kurulmalı</a:t>
            </a:r>
          </a:p>
        </p:txBody>
      </p:sp>
      <p:sp>
        <p:nvSpPr>
          <p:cNvPr id="24" name="Rectangle 23"/>
          <p:cNvSpPr/>
          <p:nvPr/>
        </p:nvSpPr>
        <p:spPr>
          <a:xfrm>
            <a:off x="0" y="6035040"/>
            <a:ext cx="12191695" cy="822960"/>
          </a:xfrm>
          <a:prstGeom prst="rect">
            <a:avLst/>
          </a:prstGeom>
          <a:solidFill>
            <a:srgbClr val="0A37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6080760"/>
            <a:ext cx="11460175" cy="713232"/>
          </a:xfrm>
          <a:prstGeom prst="rect">
            <a:avLst/>
          </a:prstGeom>
          <a:noFill/>
        </p:spPr>
        <p:txBody>
          <a:bodyPr wrap="square" lIns="0" tIns="0" rIns="0" bIns="0">
            <a:spAutoFit/>
          </a:bodyPr>
          <a:lstStyle/>
          <a:p>
            <a:pPr algn="ctr"/>
            <a:r>
              <a:rPr sz="1400" b="1" i="1">
                <a:solidFill>
                  <a:srgbClr val="BBDEFB"/>
                </a:solidFill>
                <a:latin typeface="Calibri"/>
              </a:rPr>
              <a:t>"Büyük veri güvenlik sistemleri; teknik başarının yanı sıra etik, adalet ve mahremiyet ilkeleriyle de uyumlu tasarlanmalıdır."</a:t>
            </a:r>
          </a:p>
        </p:txBody>
      </p:sp>
      <p:sp>
        <p:nvSpPr>
          <p:cNvPr id="26" name="TextBox 25"/>
          <p:cNvSpPr txBox="1"/>
          <p:nvPr/>
        </p:nvSpPr>
        <p:spPr>
          <a:xfrm>
            <a:off x="11688775" y="6510528"/>
            <a:ext cx="411480" cy="274320"/>
          </a:xfrm>
          <a:prstGeom prst="rect">
            <a:avLst/>
          </a:prstGeom>
          <a:noFill/>
        </p:spPr>
        <p:txBody>
          <a:bodyPr wrap="square" lIns="0" tIns="0" rIns="0" bIns="0">
            <a:spAutoFit/>
          </a:bodyPr>
          <a:lstStyle/>
          <a:p>
            <a:pPr algn="r"/>
            <a:r>
              <a:rPr sz="1000" b="0" i="0">
                <a:solidFill>
                  <a:srgbClr val="556581"/>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558003-E0AD-26E6-1F89-0D65BE56AD32}"/>
              </a:ext>
            </a:extLst>
          </p:cNvPr>
          <p:cNvPicPr>
            <a:picLocks noGrp="1" noRot="1" noChangeAspect="1" noMove="1" noResize="1" noEditPoints="1" noAdjustHandles="1" noChangeArrowheads="1" noChangeShapeType="1" noCrop="1"/>
          </p:cNvPicPr>
          <p:nvPr/>
        </p:nvPicPr>
        <p:blipFill>
          <a:blip r:embed="rId2"/>
          <a:stretch>
            <a:fillRect/>
          </a:stretch>
        </p:blipFill>
        <p:spPr>
          <a:xfrm>
            <a:off x="2817705" y="968386"/>
            <a:ext cx="6556589" cy="4921228"/>
          </a:xfrm>
          <a:prstGeom prst="rect">
            <a:avLst/>
          </a:prstGeom>
        </p:spPr>
      </p:pic>
      <p:sp>
        <p:nvSpPr>
          <p:cNvPr id="5" name="TextBox 4">
            <a:extLst>
              <a:ext uri="{FF2B5EF4-FFF2-40B4-BE49-F238E27FC236}">
                <a16:creationId xmlns:a16="http://schemas.microsoft.com/office/drawing/2014/main" id="{E11C3298-CECF-4392-2130-E82EFABC5219}"/>
              </a:ext>
            </a:extLst>
          </p:cNvPr>
          <p:cNvSpPr txBox="1"/>
          <p:nvPr/>
        </p:nvSpPr>
        <p:spPr>
          <a:xfrm>
            <a:off x="4226010" y="4361934"/>
            <a:ext cx="4083908" cy="461665"/>
          </a:xfrm>
          <a:prstGeom prst="rect">
            <a:avLst/>
          </a:prstGeom>
          <a:noFill/>
          <a:effectLst>
            <a:outerShdw blurRad="50800" dist="38100" dir="5400000" algn="t" rotWithShape="0">
              <a:prstClr val="black">
                <a:alpha val="40000"/>
              </a:prstClr>
            </a:outerShdw>
          </a:effectLst>
        </p:spPr>
        <p:txBody>
          <a:bodyPr wrap="square" rtlCol="0">
            <a:spAutoFit/>
          </a:bodyPr>
          <a:lstStyle/>
          <a:p>
            <a:r>
              <a:rPr lang="tr-TR" sz="2400" dirty="0"/>
              <a:t>Dinlediğiniz için teşekkürler…</a:t>
            </a:r>
            <a:endParaRPr lang="en-US" sz="2400" dirty="0"/>
          </a:p>
        </p:txBody>
      </p:sp>
    </p:spTree>
    <p:extLst>
      <p:ext uri="{BB962C8B-B14F-4D97-AF65-F5344CB8AC3E}">
        <p14:creationId xmlns:p14="http://schemas.microsoft.com/office/powerpoint/2010/main" val="4041353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1676</Words>
  <Application>Microsoft Office PowerPoint</Application>
  <PresentationFormat>Widescreen</PresentationFormat>
  <Paragraphs>223</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Nesibe Şeyma Can</cp:lastModifiedBy>
  <cp:revision>1</cp:revision>
  <dcterms:created xsi:type="dcterms:W3CDTF">2013-01-27T09:14:16Z</dcterms:created>
  <dcterms:modified xsi:type="dcterms:W3CDTF">2026-05-26T18:41:27Z</dcterms:modified>
  <cp:category/>
</cp:coreProperties>
</file>